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1384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9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C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· DESARROLLO DE SISTEMAS WEB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13716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SeguriTech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digital de servicios tecnológicos, redes y ciberseguridad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333756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web dinámica desarrollada con arquitectura MVC: Node.js, Express, EJS, Bootstrap y MySQL.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4251960"/>
            <a:ext cx="1874520" cy="420624"/>
          </a:xfrm>
          <a:prstGeom prst="roundRect">
            <a:avLst>
              <a:gd name="adj" fmla="val 50000"/>
            </a:avLst>
          </a:prstGeom>
          <a:solidFill>
            <a:srgbClr val="16335A"/>
          </a:solidFill>
          <a:ln w="12700">
            <a:solidFill>
              <a:srgbClr val="26486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822960" y="4251960"/>
            <a:ext cx="1874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Problema y objetivos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62072" y="4251960"/>
            <a:ext cx="1563624" cy="420624"/>
          </a:xfrm>
          <a:prstGeom prst="roundRect">
            <a:avLst>
              <a:gd name="adj" fmla="val 50000"/>
            </a:avLst>
          </a:prstGeom>
          <a:solidFill>
            <a:srgbClr val="16335A"/>
          </a:solidFill>
          <a:ln w="12700">
            <a:solidFill>
              <a:srgbClr val="26486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2862072" y="4251960"/>
            <a:ext cx="1563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Arquitectura MVC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90288" y="4251960"/>
            <a:ext cx="1485900" cy="420624"/>
          </a:xfrm>
          <a:prstGeom prst="roundRect">
            <a:avLst>
              <a:gd name="adj" fmla="val 50000"/>
            </a:avLst>
          </a:prstGeom>
          <a:solidFill>
            <a:srgbClr val="16335A"/>
          </a:solidFill>
          <a:ln w="12700">
            <a:solidFill>
              <a:srgbClr val="26486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4590288" y="4251960"/>
            <a:ext cx="14859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Funcionalidades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4782312"/>
            <a:ext cx="1019556" cy="420624"/>
          </a:xfrm>
          <a:prstGeom prst="roundRect">
            <a:avLst>
              <a:gd name="adj" fmla="val 50000"/>
            </a:avLst>
          </a:prstGeom>
          <a:solidFill>
            <a:srgbClr val="16335A"/>
          </a:solidFill>
          <a:ln w="12700">
            <a:solidFill>
              <a:srgbClr val="26486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822960" y="4782312"/>
            <a:ext cx="10195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Seguridad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007108" y="4782312"/>
            <a:ext cx="1252728" cy="420624"/>
          </a:xfrm>
          <a:prstGeom prst="roundRect">
            <a:avLst>
              <a:gd name="adj" fmla="val 50000"/>
            </a:avLst>
          </a:prstGeom>
          <a:solidFill>
            <a:srgbClr val="16335A"/>
          </a:solidFill>
          <a:ln w="12700">
            <a:solidFill>
              <a:srgbClr val="26486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2007108" y="4782312"/>
            <a:ext cx="12527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Demostración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24428" y="4782312"/>
            <a:ext cx="1252728" cy="420624"/>
          </a:xfrm>
          <a:prstGeom prst="roundRect">
            <a:avLst>
              <a:gd name="adj" fmla="val 50000"/>
            </a:avLst>
          </a:prstGeom>
          <a:solidFill>
            <a:srgbClr val="16335A"/>
          </a:solidFill>
          <a:ln w="12700">
            <a:solidFill>
              <a:srgbClr val="26486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3424428" y="4782312"/>
            <a:ext cx="12527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Conclusiones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595360" y="960120"/>
            <a:ext cx="2788920" cy="4526280"/>
          </a:xfrm>
          <a:prstGeom prst="roundRect">
            <a:avLst>
              <a:gd name="adj" fmla="val 2623"/>
            </a:avLst>
          </a:prstGeom>
          <a:solidFill>
            <a:srgbClr val="13284A"/>
          </a:solidFill>
          <a:ln w="12700">
            <a:solidFill>
              <a:srgbClr val="26486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Shape 17"/>
          <p:cNvSpPr/>
          <p:nvPr/>
        </p:nvSpPr>
        <p:spPr>
          <a:xfrm>
            <a:off x="8796528" y="116128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8979408" y="116128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9162288" y="116128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9418320" y="109728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8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security-monitor.sh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823960" y="1554480"/>
            <a:ext cx="2423160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B8CC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node index.js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B8CC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Servidor: localhost:3000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B8CC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npm run check:security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00C2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[OK] SQL parametrizado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00C2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[OK] Escape EJS (anti-XSS)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00C2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[OK] Validacion cliente/srv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00C2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[OK] Multer: tipo y 5MB max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00C2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[OK] Variables .env OK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B8CC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BD: seguritech_db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B8CC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categorias  (4)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B8CC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servicios   (10)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B8CC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solicitudes (15)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00C2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Estado: OPERATIVO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SeguriTech · Desarrollo de Sistemas Web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13232"/>
            <a:ext cx="502920" cy="502920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3" name="Image 0" descr="/home/claude/seguritech_pptx/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22" y="823874"/>
            <a:ext cx="281635" cy="2816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Problema y objetivos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280160" y="685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Planteamiento del problema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16002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SeguriTech es una empresa que ofrece servicios de redes de cómputo, desarrollo de software y ciberseguridad a distintos clientes, cada uno con necesidades particulares. Sin un canal digital centralizado, resulta difícil mostrar el catálogo completo de soluciones, dar seguimiento a las solicitudes de cotización y mantener organizada la información de los clientes interesados.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278892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C234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8" name="Shape 5"/>
          <p:cNvSpPr/>
          <p:nvPr/>
        </p:nvSpPr>
        <p:spPr>
          <a:xfrm>
            <a:off x="914400" y="3063240"/>
            <a:ext cx="548640" cy="548640"/>
          </a:xfrm>
          <a:prstGeom prst="ellipse">
            <a:avLst/>
          </a:prstGeom>
          <a:solidFill>
            <a:srgbClr val="00C2A0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9" name="Image 1" descr="/home/claude/seguritech_pptx/icons/netwo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101" y="318394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37033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dispersos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914400" y="4087368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Redes, ciberseguridad y desarrollo de software sin un catálogo unificado y accesible para el cliente.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434840" y="278892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C234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3" name="Shape 9"/>
          <p:cNvSpPr/>
          <p:nvPr/>
        </p:nvSpPr>
        <p:spPr>
          <a:xfrm>
            <a:off x="4709160" y="3063240"/>
            <a:ext cx="548640" cy="548640"/>
          </a:xfrm>
          <a:prstGeom prst="ellipse">
            <a:avLst/>
          </a:prstGeom>
          <a:solidFill>
            <a:srgbClr val="00C2A0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4" name="Image 2" descr="/home/claude/seguritech_pptx/icons/commen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9861" y="3183941"/>
            <a:ext cx="307238" cy="30723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709160" y="37033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canal estructurado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4709160" y="4087368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un mecanismo claro para que un cliente envíe una solicitud de cotización con su contexto.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8229600" y="278892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C234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8" name="Shape 13"/>
          <p:cNvSpPr/>
          <p:nvPr/>
        </p:nvSpPr>
        <p:spPr>
          <a:xfrm>
            <a:off x="8503920" y="3063240"/>
            <a:ext cx="548640" cy="548640"/>
          </a:xfrm>
          <a:prstGeom prst="ellipse">
            <a:avLst/>
          </a:prstGeom>
          <a:solidFill>
            <a:srgbClr val="00C2A0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9" name="Image 3" descr="/home/claude/seguritech_pptx/icons/glob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4621" y="3183941"/>
            <a:ext cx="307238" cy="30723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503920" y="37033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portal responsivo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8503920" y="4087368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requiere una interfaz dinámica, adaptable a cualquier dispositivo y conectada a una base de datos.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SeguriTech · Desarrollo de Sistemas Web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13232"/>
            <a:ext cx="502920" cy="502920"/>
          </a:xfrm>
          <a:prstGeom prst="ellipse">
            <a:avLst/>
          </a:prstGeom>
          <a:solidFill>
            <a:srgbClr val="00C2A0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3" name="Image 0" descr="/home/claude/seguritech_pptx/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22" y="823874"/>
            <a:ext cx="281635" cy="2816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Problema y objetivos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280160" y="685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 del sistema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5120640" cy="4160520"/>
          </a:xfrm>
          <a:prstGeom prst="roundRect">
            <a:avLst>
              <a:gd name="adj" fmla="val 1758"/>
            </a:avLst>
          </a:prstGeom>
          <a:solidFill>
            <a:srgbClr val="E8F0FE"/>
          </a:solidFill>
          <a:ln/>
          <a:effectLst>
            <a:outerShdw blurRad="88900" dist="25400" dir="5400000" algn="bl" rotWithShape="0">
              <a:srgbClr val="0C234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7" name="Text 4"/>
          <p:cNvSpPr/>
          <p:nvPr/>
        </p:nvSpPr>
        <p:spPr>
          <a:xfrm>
            <a:off x="914400" y="187452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Diseñar, desarrollar e implementar una aplicación web dinámica que resuelva la problemática de SeguriTech, empleando tecnologías frontend y backend modernas, una base de datos relacional (MySQL) y arquitectura MVC.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3246120"/>
            <a:ext cx="4572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el catálogo de servicios de forma clara y accesible para CTOs, CISOs y PyMEs.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Permitir la consulta dinámica y el filtrado de servicios por categoría.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solicitudes de cotización con datos de contacto y archivo adjunto.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un panel de estadísticas con indicadores del negocio.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035040" y="1600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implementado en la base de datos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035040" y="214884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F4F6F9"/>
          </a:solidFill>
          <a:ln/>
          <a:effectLst>
            <a:outerShdw blurRad="88900" dist="25400" dir="5400000" algn="bl" rotWithShape="0">
              <a:srgbClr val="0C234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1" name="Shape 8"/>
          <p:cNvSpPr/>
          <p:nvPr/>
        </p:nvSpPr>
        <p:spPr>
          <a:xfrm>
            <a:off x="6263640" y="2377440"/>
            <a:ext cx="502920" cy="502920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2" name="Image 1" descr="/home/claude/seguritech_pptx/icons/netwo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4282" y="2488082"/>
            <a:ext cx="281635" cy="28163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03720" y="23317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de Cómputo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6263640" y="29260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Implementación, mantenimiento y automatización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915400" y="214884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F4F6F9"/>
          </a:solidFill>
          <a:ln/>
          <a:effectLst>
            <a:outerShdw blurRad="88900" dist="25400" dir="5400000" algn="bl" rotWithShape="0">
              <a:srgbClr val="0C234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6" name="Shape 12"/>
          <p:cNvSpPr/>
          <p:nvPr/>
        </p:nvSpPr>
        <p:spPr>
          <a:xfrm>
            <a:off x="9144000" y="2377440"/>
            <a:ext cx="502920" cy="502920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7" name="Image 2" descr="/home/claude/seguritech_pptx/icons/user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4642" y="2488082"/>
            <a:ext cx="281635" cy="28163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784080" y="23317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Ciberseguridad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9144000" y="29260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Auditorías, pentesting, firewalls e IAM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035040" y="393192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F4F6F9"/>
          </a:solidFill>
          <a:ln/>
          <a:effectLst>
            <a:outerShdw blurRad="88900" dist="25400" dir="5400000" algn="bl" rotWithShape="0">
              <a:srgbClr val="0C234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1" name="Shape 16"/>
          <p:cNvSpPr/>
          <p:nvPr/>
        </p:nvSpPr>
        <p:spPr>
          <a:xfrm>
            <a:off x="6263640" y="4160520"/>
            <a:ext cx="502920" cy="502920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22" name="Image 3" descr="/home/claude/seguritech_pptx/icons/cod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4282" y="4271162"/>
            <a:ext cx="281635" cy="28163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903720" y="41148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Software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6263640" y="47091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y dashboards de seguridad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8915400" y="393192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F4F6F9"/>
          </a:solidFill>
          <a:ln/>
          <a:effectLst>
            <a:outerShdw blurRad="88900" dist="25400" dir="5400000" algn="bl" rotWithShape="0">
              <a:srgbClr val="0C234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6" name="Shape 20"/>
          <p:cNvSpPr/>
          <p:nvPr/>
        </p:nvSpPr>
        <p:spPr>
          <a:xfrm>
            <a:off x="9144000" y="4160520"/>
            <a:ext cx="502920" cy="502920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27" name="Image 4" descr="/home/claude/seguritech_pptx/icons/gradCa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54642" y="4271162"/>
            <a:ext cx="281635" cy="28163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784080" y="41148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9144000" y="47091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 y concientización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6035040" y="5715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servicios distribuidos en 4 categorías  ·  tabla categorias (seguritech_db)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SeguriTech · Desarrollo de Sistemas Web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13232"/>
            <a:ext cx="502920" cy="502920"/>
          </a:xfrm>
          <a:prstGeom prst="ellipse">
            <a:avLst/>
          </a:prstGeom>
          <a:solidFill>
            <a:srgbClr val="0C2340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3" name="Image 0" descr="/home/claude/seguritech_pptx/icons/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22" y="823874"/>
            <a:ext cx="281635" cy="2816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Arquitectura MVC del sistema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280160" y="685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- Vista - Controlador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174236" y="1554480"/>
            <a:ext cx="3840480" cy="594360"/>
          </a:xfrm>
          <a:prstGeom prst="roundRect">
            <a:avLst>
              <a:gd name="adj" fmla="val 12308"/>
            </a:avLst>
          </a:prstGeom>
          <a:solidFill>
            <a:srgbClr val="0C2340"/>
          </a:solidFill>
          <a:ln/>
          <a:effectLst>
            <a:outerShdw blurRad="88900" dist="25400" dir="5400000" algn="bl" rotWithShape="0">
              <a:srgbClr val="0C234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7" name="Text 4"/>
          <p:cNvSpPr/>
          <p:nvPr/>
        </p:nvSpPr>
        <p:spPr>
          <a:xfrm>
            <a:off x="4174236" y="155448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  →  petición HTTP (GET /servicios)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094476" y="2148840"/>
            <a:ext cx="0" cy="411480"/>
          </a:xfrm>
          <a:prstGeom prst="line">
            <a:avLst/>
          </a:prstGeom>
          <a:noFill/>
          <a:ln w="25400">
            <a:solidFill>
              <a:srgbClr val="0C234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6"/>
          <p:cNvSpPr/>
          <p:nvPr/>
        </p:nvSpPr>
        <p:spPr>
          <a:xfrm>
            <a:off x="448056" y="260604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C234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Shape 7"/>
          <p:cNvSpPr/>
          <p:nvPr/>
        </p:nvSpPr>
        <p:spPr>
          <a:xfrm>
            <a:off x="448056" y="2606040"/>
            <a:ext cx="3520440" cy="685800"/>
          </a:xfrm>
          <a:prstGeom prst="rect">
            <a:avLst/>
          </a:prstGeom>
          <a:solidFill>
            <a:srgbClr val="00C2A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Shape 8"/>
          <p:cNvSpPr/>
          <p:nvPr/>
        </p:nvSpPr>
        <p:spPr>
          <a:xfrm>
            <a:off x="448056" y="2606040"/>
            <a:ext cx="3520440" cy="685800"/>
          </a:xfrm>
          <a:prstGeom prst="roundRect">
            <a:avLst>
              <a:gd name="adj" fmla="val 10667"/>
            </a:avLst>
          </a:prstGeom>
          <a:solidFill>
            <a:srgbClr val="00C2A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Shape 9"/>
          <p:cNvSpPr/>
          <p:nvPr/>
        </p:nvSpPr>
        <p:spPr>
          <a:xfrm>
            <a:off x="448056" y="2971800"/>
            <a:ext cx="3520440" cy="320040"/>
          </a:xfrm>
          <a:prstGeom prst="rect">
            <a:avLst/>
          </a:prstGeom>
          <a:solidFill>
            <a:srgbClr val="00C2A0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3" name="Image 1" descr="/home/claude/seguritech_pptx/icons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" y="2724912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25296" y="260604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225296" y="297180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 datos (MySQL)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676656" y="347472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db.js — pool de conexiones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servicioModel.js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solicitudModel.js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76656" y="5074920"/>
            <a:ext cx="3063240" cy="0"/>
          </a:xfrm>
          <a:prstGeom prst="rect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4"/>
          <p:cNvSpPr/>
          <p:nvPr/>
        </p:nvSpPr>
        <p:spPr>
          <a:xfrm>
            <a:off x="676656" y="5138928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SQL parametrizadas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334256" y="260604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C234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0" name="Shape 16"/>
          <p:cNvSpPr/>
          <p:nvPr/>
        </p:nvSpPr>
        <p:spPr>
          <a:xfrm>
            <a:off x="4334256" y="2606040"/>
            <a:ext cx="3520440" cy="68580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Shape 17"/>
          <p:cNvSpPr/>
          <p:nvPr/>
        </p:nvSpPr>
        <p:spPr>
          <a:xfrm>
            <a:off x="4334256" y="2606040"/>
            <a:ext cx="3520440" cy="685800"/>
          </a:xfrm>
          <a:prstGeom prst="roundRect">
            <a:avLst>
              <a:gd name="adj" fmla="val 10667"/>
            </a:avLst>
          </a:prstGeom>
          <a:solidFill>
            <a:srgbClr val="1565C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2" name="Shape 18"/>
          <p:cNvSpPr/>
          <p:nvPr/>
        </p:nvSpPr>
        <p:spPr>
          <a:xfrm>
            <a:off x="4334256" y="2971800"/>
            <a:ext cx="3520440" cy="32004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23" name="Image 2" descr="/home/claude/seguritech_pptx/icons/ser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7136" y="2724912"/>
            <a:ext cx="457200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111496" y="260604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5111496" y="297180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negocio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4562856" y="347472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webRoutes.js — rutas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servicioController.js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solicitudController.js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upload.js (Multer)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4562856" y="5074920"/>
            <a:ext cx="3063240" cy="0"/>
          </a:xfrm>
          <a:prstGeom prst="rect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3"/>
          <p:cNvSpPr/>
          <p:nvPr/>
        </p:nvSpPr>
        <p:spPr>
          <a:xfrm>
            <a:off x="4562856" y="5138928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la petición, llama al Modelo y elige la Vista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8220456" y="260604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C234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0" name="Shape 25"/>
          <p:cNvSpPr/>
          <p:nvPr/>
        </p:nvSpPr>
        <p:spPr>
          <a:xfrm>
            <a:off x="8220456" y="2606040"/>
            <a:ext cx="3520440" cy="685800"/>
          </a:xfrm>
          <a:prstGeom prst="rect">
            <a:avLst/>
          </a:prstGeom>
          <a:solidFill>
            <a:srgbClr val="0C234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1" name="Shape 26"/>
          <p:cNvSpPr/>
          <p:nvPr/>
        </p:nvSpPr>
        <p:spPr>
          <a:xfrm>
            <a:off x="8220456" y="2606040"/>
            <a:ext cx="3520440" cy="685800"/>
          </a:xfrm>
          <a:prstGeom prst="roundRect">
            <a:avLst>
              <a:gd name="adj" fmla="val 10667"/>
            </a:avLst>
          </a:prstGeom>
          <a:solidFill>
            <a:srgbClr val="0C234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2" name="Shape 27"/>
          <p:cNvSpPr/>
          <p:nvPr/>
        </p:nvSpPr>
        <p:spPr>
          <a:xfrm>
            <a:off x="8220456" y="2971800"/>
            <a:ext cx="3520440" cy="320040"/>
          </a:xfrm>
          <a:prstGeom prst="rect">
            <a:avLst/>
          </a:prstGeom>
          <a:solidFill>
            <a:srgbClr val="0C2340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33" name="Image 3" descr="/home/claude/seguritech_pptx/icons/deskto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3336" y="2724912"/>
            <a:ext cx="457200" cy="45720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8997696" y="260604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8997696" y="297180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de usuario (EJS)</a:t>
            </a:r>
            <a:endParaRPr lang="en-US" sz="1050" dirty="0"/>
          </a:p>
        </p:txBody>
      </p:sp>
      <p:sp>
        <p:nvSpPr>
          <p:cNvPr id="36" name="Text 30"/>
          <p:cNvSpPr/>
          <p:nvPr/>
        </p:nvSpPr>
        <p:spPr>
          <a:xfrm>
            <a:off x="8449056" y="347472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partials/ (header, footer)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index, servicios, contacto…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public/ (css, js, uploads)</a:t>
            </a:r>
            <a:endParaRPr lang="en-US" sz="1200" dirty="0"/>
          </a:p>
        </p:txBody>
      </p:sp>
      <p:sp>
        <p:nvSpPr>
          <p:cNvPr id="37" name="Shape 31"/>
          <p:cNvSpPr/>
          <p:nvPr/>
        </p:nvSpPr>
        <p:spPr>
          <a:xfrm>
            <a:off x="8449056" y="5074920"/>
            <a:ext cx="3063240" cy="0"/>
          </a:xfrm>
          <a:prstGeom prst="rect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Text 32"/>
          <p:cNvSpPr/>
          <p:nvPr/>
        </p:nvSpPr>
        <p:spPr>
          <a:xfrm>
            <a:off x="8449056" y="5138928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Escape automático &lt;%= %&gt; (anti-XSS)</a:t>
            </a:r>
            <a:endParaRPr lang="en-US" sz="1100" dirty="0"/>
          </a:p>
        </p:txBody>
      </p:sp>
      <p:sp>
        <p:nvSpPr>
          <p:cNvPr id="39" name="Shape 33"/>
          <p:cNvSpPr/>
          <p:nvPr/>
        </p:nvSpPr>
        <p:spPr>
          <a:xfrm>
            <a:off x="3968496" y="4229100"/>
            <a:ext cx="36576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40" name="Shape 34"/>
          <p:cNvSpPr/>
          <p:nvPr/>
        </p:nvSpPr>
        <p:spPr>
          <a:xfrm>
            <a:off x="7854696" y="4229100"/>
            <a:ext cx="36576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41" name="Text 3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SeguriTech · Desarrollo de Sistemas Web</a:t>
            </a:r>
            <a:endParaRPr lang="en-US" sz="900" dirty="0"/>
          </a:p>
        </p:txBody>
      </p:sp>
      <p:sp>
        <p:nvSpPr>
          <p:cNvPr id="42" name="Text 36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13232"/>
            <a:ext cx="502920" cy="502920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3" name="Image 0" descr="/home/claude/seguritech_pptx/icons/co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22" y="823874"/>
            <a:ext cx="281635" cy="2816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Arquitectura MVC del sistema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280160" y="685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 y modelo de datos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91640"/>
            <a:ext cx="6035040" cy="1188720"/>
          </a:xfrm>
          <a:prstGeom prst="roundRect">
            <a:avLst>
              <a:gd name="adj" fmla="val 6154"/>
            </a:avLst>
          </a:prstGeom>
          <a:solidFill>
            <a:srgbClr val="F4F6F9"/>
          </a:solidFill>
          <a:ln/>
          <a:effectLst>
            <a:outerShdw blurRad="88900" dist="25400" dir="5400000" algn="bl" rotWithShape="0">
              <a:srgbClr val="0C234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7" name="Shape 4"/>
          <p:cNvSpPr/>
          <p:nvPr/>
        </p:nvSpPr>
        <p:spPr>
          <a:xfrm>
            <a:off x="640080" y="1691640"/>
            <a:ext cx="1554480" cy="1188720"/>
          </a:xfrm>
          <a:prstGeom prst="roundRect">
            <a:avLst>
              <a:gd name="adj" fmla="val 6154"/>
            </a:avLst>
          </a:prstGeom>
          <a:solidFill>
            <a:srgbClr val="00C2A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Shape 5"/>
          <p:cNvSpPr/>
          <p:nvPr/>
        </p:nvSpPr>
        <p:spPr>
          <a:xfrm>
            <a:off x="1417320" y="1691640"/>
            <a:ext cx="777240" cy="1188720"/>
          </a:xfrm>
          <a:prstGeom prst="rect">
            <a:avLst/>
          </a:prstGeom>
          <a:solidFill>
            <a:srgbClr val="00C2A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6"/>
          <p:cNvSpPr/>
          <p:nvPr/>
        </p:nvSpPr>
        <p:spPr>
          <a:xfrm>
            <a:off x="640080" y="1691640"/>
            <a:ext cx="1554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2423160" y="169164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semántico · CSS3 + Bootstrap 5 · JavaScript ES6 · fetch() / AJAX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" y="3108960"/>
            <a:ext cx="6035040" cy="1188720"/>
          </a:xfrm>
          <a:prstGeom prst="roundRect">
            <a:avLst>
              <a:gd name="adj" fmla="val 6154"/>
            </a:avLst>
          </a:prstGeom>
          <a:solidFill>
            <a:srgbClr val="F4F6F9"/>
          </a:solidFill>
          <a:ln/>
          <a:effectLst>
            <a:outerShdw blurRad="88900" dist="25400" dir="5400000" algn="bl" rotWithShape="0">
              <a:srgbClr val="0C234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2" name="Shape 9"/>
          <p:cNvSpPr/>
          <p:nvPr/>
        </p:nvSpPr>
        <p:spPr>
          <a:xfrm>
            <a:off x="640080" y="3108960"/>
            <a:ext cx="1554480" cy="1188720"/>
          </a:xfrm>
          <a:prstGeom prst="roundRect">
            <a:avLst>
              <a:gd name="adj" fmla="val 6154"/>
            </a:avLst>
          </a:prstGeom>
          <a:solidFill>
            <a:srgbClr val="1565C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Shape 10"/>
          <p:cNvSpPr/>
          <p:nvPr/>
        </p:nvSpPr>
        <p:spPr>
          <a:xfrm>
            <a:off x="1417320" y="3108960"/>
            <a:ext cx="777240" cy="11887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Text 11"/>
          <p:cNvSpPr/>
          <p:nvPr/>
        </p:nvSpPr>
        <p:spPr>
          <a:xfrm>
            <a:off x="640080" y="3108960"/>
            <a:ext cx="1554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2423160" y="310896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Express · EJS · Multer (archivos) · dotenv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40080" y="4526280"/>
            <a:ext cx="6035040" cy="1188720"/>
          </a:xfrm>
          <a:prstGeom prst="roundRect">
            <a:avLst>
              <a:gd name="adj" fmla="val 6154"/>
            </a:avLst>
          </a:prstGeom>
          <a:solidFill>
            <a:srgbClr val="F4F6F9"/>
          </a:solidFill>
          <a:ln/>
          <a:effectLst>
            <a:outerShdw blurRad="88900" dist="25400" dir="5400000" algn="bl" rotWithShape="0">
              <a:srgbClr val="0C234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7" name="Shape 14"/>
          <p:cNvSpPr/>
          <p:nvPr/>
        </p:nvSpPr>
        <p:spPr>
          <a:xfrm>
            <a:off x="640080" y="4526280"/>
            <a:ext cx="1554480" cy="1188720"/>
          </a:xfrm>
          <a:prstGeom prst="roundRect">
            <a:avLst>
              <a:gd name="adj" fmla="val 6154"/>
            </a:avLst>
          </a:prstGeom>
          <a:solidFill>
            <a:srgbClr val="0C234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Shape 15"/>
          <p:cNvSpPr/>
          <p:nvPr/>
        </p:nvSpPr>
        <p:spPr>
          <a:xfrm>
            <a:off x="1417320" y="4526280"/>
            <a:ext cx="777240" cy="1188720"/>
          </a:xfrm>
          <a:prstGeom prst="rect">
            <a:avLst/>
          </a:prstGeom>
          <a:solidFill>
            <a:srgbClr val="0C234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9" name="Text 16"/>
          <p:cNvSpPr/>
          <p:nvPr/>
        </p:nvSpPr>
        <p:spPr>
          <a:xfrm>
            <a:off x="640080" y="4526280"/>
            <a:ext cx="1554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2423160" y="452628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· mysql2 (promesas, consultas parametrizadas) · seguritech_db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40080" y="598932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de desarrollo: npm · Git / GitHub · VS Code · MySQL Workbench · Postman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6995160" y="1600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relacional — seguritech_db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995160" y="2148840"/>
            <a:ext cx="45720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C234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4" name="Shape 21"/>
          <p:cNvSpPr/>
          <p:nvPr/>
        </p:nvSpPr>
        <p:spPr>
          <a:xfrm>
            <a:off x="6995160" y="2148840"/>
            <a:ext cx="164592" cy="868680"/>
          </a:xfrm>
          <a:prstGeom prst="rect">
            <a:avLst/>
          </a:prstGeom>
          <a:solidFill>
            <a:srgbClr val="0C234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5" name="Shape 22"/>
          <p:cNvSpPr/>
          <p:nvPr/>
        </p:nvSpPr>
        <p:spPr>
          <a:xfrm>
            <a:off x="6995160" y="2148840"/>
            <a:ext cx="45720" cy="868680"/>
          </a:xfrm>
          <a:prstGeom prst="rect">
            <a:avLst/>
          </a:prstGeom>
          <a:ln/>
        </p:spPr>
        <p:txBody>
          <a:bodyPr/>
          <a:lstStyle/>
          <a:p>
            <a:endParaRPr lang="es-MX"/>
          </a:p>
        </p:txBody>
      </p:sp>
      <p:sp>
        <p:nvSpPr>
          <p:cNvPr id="26" name="Text 23"/>
          <p:cNvSpPr/>
          <p:nvPr/>
        </p:nvSpPr>
        <p:spPr>
          <a:xfrm>
            <a:off x="7269480" y="222199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categorias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7269480" y="25603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nombre · descripcion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9281160" y="3017520"/>
            <a:ext cx="0" cy="292608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6"/>
          <p:cNvSpPr/>
          <p:nvPr/>
        </p:nvSpPr>
        <p:spPr>
          <a:xfrm>
            <a:off x="9354312" y="301752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995160" y="3383280"/>
            <a:ext cx="45720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C234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1" name="Shape 28"/>
          <p:cNvSpPr/>
          <p:nvPr/>
        </p:nvSpPr>
        <p:spPr>
          <a:xfrm>
            <a:off x="6995160" y="3383280"/>
            <a:ext cx="164592" cy="86868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2" name="Shape 29"/>
          <p:cNvSpPr/>
          <p:nvPr/>
        </p:nvSpPr>
        <p:spPr>
          <a:xfrm>
            <a:off x="6995160" y="3383280"/>
            <a:ext cx="45720" cy="868680"/>
          </a:xfrm>
          <a:prstGeom prst="rect">
            <a:avLst/>
          </a:prstGeom>
          <a:ln/>
        </p:spPr>
        <p:txBody>
          <a:bodyPr/>
          <a:lstStyle/>
          <a:p>
            <a:endParaRPr lang="es-MX"/>
          </a:p>
        </p:txBody>
      </p:sp>
      <p:sp>
        <p:nvSpPr>
          <p:cNvPr id="33" name="Text 30"/>
          <p:cNvSpPr/>
          <p:nvPr/>
        </p:nvSpPr>
        <p:spPr>
          <a:xfrm>
            <a:off x="7269480" y="345643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servicios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7269480" y="37947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categoria_id (FK) · nombre · descripcion · imagen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9281160" y="4251960"/>
            <a:ext cx="0" cy="292608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36" name="Text 33"/>
          <p:cNvSpPr/>
          <p:nvPr/>
        </p:nvSpPr>
        <p:spPr>
          <a:xfrm>
            <a:off x="9354312" y="425196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6995160" y="4617720"/>
            <a:ext cx="45720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C234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8" name="Shape 35"/>
          <p:cNvSpPr/>
          <p:nvPr/>
        </p:nvSpPr>
        <p:spPr>
          <a:xfrm>
            <a:off x="6995160" y="4617720"/>
            <a:ext cx="164592" cy="868680"/>
          </a:xfrm>
          <a:prstGeom prst="rect">
            <a:avLst/>
          </a:prstGeom>
          <a:solidFill>
            <a:srgbClr val="00C2A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9" name="Shape 36"/>
          <p:cNvSpPr/>
          <p:nvPr/>
        </p:nvSpPr>
        <p:spPr>
          <a:xfrm>
            <a:off x="6995160" y="4617720"/>
            <a:ext cx="45720" cy="868680"/>
          </a:xfrm>
          <a:prstGeom prst="rect">
            <a:avLst/>
          </a:prstGeom>
          <a:ln/>
        </p:spPr>
        <p:txBody>
          <a:bodyPr/>
          <a:lstStyle/>
          <a:p>
            <a:endParaRPr lang="es-MX"/>
          </a:p>
        </p:txBody>
      </p:sp>
      <p:sp>
        <p:nvSpPr>
          <p:cNvPr id="40" name="Text 37"/>
          <p:cNvSpPr/>
          <p:nvPr/>
        </p:nvSpPr>
        <p:spPr>
          <a:xfrm>
            <a:off x="7269480" y="469087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solicitudes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7269480" y="50292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servicio_id (FK) · nombre · email · telefono · archivo · estado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6995160" y="58978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categorias 1—N servicios  ·  servicios 1—N solicitudes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DELETE SET NULL (servicios) · ON DELETE CASCADE (solicitudes)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SeguriTech · Desarrollo de Sistemas Web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13232"/>
            <a:ext cx="502920" cy="502920"/>
          </a:xfrm>
          <a:prstGeom prst="ellipse">
            <a:avLst/>
          </a:prstGeom>
          <a:solidFill>
            <a:srgbClr val="00C2A0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3" name="Image 0" descr="/home/claude/seguritech_pptx/icons/site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22" y="823874"/>
            <a:ext cx="281635" cy="2816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Funcionalidades principales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280160" y="685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Navegación y catálogo de servicios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10908792" cy="640080"/>
          </a:xfrm>
          <a:prstGeom prst="roundRect">
            <a:avLst>
              <a:gd name="adj" fmla="val 11429"/>
            </a:avLst>
          </a:prstGeom>
          <a:solidFill>
            <a:srgbClr val="0C2340"/>
          </a:solidFill>
          <a:ln/>
          <a:effectLst>
            <a:outerShdw blurRad="88900" dist="25400" dir="5400000" algn="bl" rotWithShape="0">
              <a:srgbClr val="0C234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7" name="Text 4"/>
          <p:cNvSpPr/>
          <p:nvPr/>
        </p:nvSpPr>
        <p:spPr>
          <a:xfrm>
            <a:off x="1005840" y="16002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926080" y="16002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Nosotros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846320" y="16002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766560" y="16002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686800" y="16002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0080" y="2313432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fijo (sticky), responsivo, colapsa a ícono ☰ en pantallas pequeñas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0080" y="278892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C234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4" name="Text 11"/>
          <p:cNvSpPr/>
          <p:nvPr/>
        </p:nvSpPr>
        <p:spPr>
          <a:xfrm>
            <a:off x="640080" y="2834640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640080" y="352044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en catálogo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297680" y="278892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C234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7" name="Text 14"/>
          <p:cNvSpPr/>
          <p:nvPr/>
        </p:nvSpPr>
        <p:spPr>
          <a:xfrm>
            <a:off x="4297680" y="2834640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18" name="Text 15"/>
          <p:cNvSpPr/>
          <p:nvPr/>
        </p:nvSpPr>
        <p:spPr>
          <a:xfrm>
            <a:off x="4297680" y="352044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7955280" y="278892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C234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0" name="Text 17"/>
          <p:cNvSpPr/>
          <p:nvPr/>
        </p:nvSpPr>
        <p:spPr>
          <a:xfrm>
            <a:off x="7955280" y="2834640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AJAX</a:t>
            </a:r>
            <a:endParaRPr lang="en-US" sz="3600" dirty="0"/>
          </a:p>
        </p:txBody>
      </p:sp>
      <p:sp>
        <p:nvSpPr>
          <p:cNvPr id="21" name="Text 18"/>
          <p:cNvSpPr/>
          <p:nvPr/>
        </p:nvSpPr>
        <p:spPr>
          <a:xfrm>
            <a:off x="7955280" y="352044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filtrado dinámico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40080" y="4251960"/>
            <a:ext cx="1090879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C234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3" name="Shape 20"/>
          <p:cNvSpPr/>
          <p:nvPr/>
        </p:nvSpPr>
        <p:spPr>
          <a:xfrm>
            <a:off x="914400" y="4526280"/>
            <a:ext cx="548640" cy="548640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24" name="Image 1" descr="/home/claude/seguritech_pptx/icons/fil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101" y="4646981"/>
            <a:ext cx="307238" cy="30723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691640" y="4480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Filtrado por categoría sin recargar la página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1691640" y="4892040"/>
            <a:ext cx="9601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catálogo se obtiene con Servicio.getAllWithCategoria() (join entre servicios y categorias). Las vistas servicios.ejs y contacto.ejs incluyen botones 'Todos / Redes / Ciberseguridad / Desarrollo de Software / Capacitación'. El endpoint GET /api/servicios devuelve los datos en JSON; el JavaScript del cliente (main.js, cargarServiciosFiltro()) los consume con fetch() y reconstruye las tarjetas del DOM al instante.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SeguriTech · Desarrollo de Sistemas Web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13232"/>
            <a:ext cx="502920" cy="502920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3" name="Image 0" descr="/home/claude/seguritech_pptx/icons/clipboard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22" y="823874"/>
            <a:ext cx="281635" cy="2816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Funcionalidades principales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28016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Solicitudes de cotización y panel de estadísticas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9164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F4F6F9"/>
          </a:solidFill>
          <a:ln/>
          <a:effectLst>
            <a:outerShdw blurRad="88900" dist="25400" dir="5400000" algn="bl" rotWithShape="0">
              <a:srgbClr val="0C234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7" name="Shape 4"/>
          <p:cNvSpPr/>
          <p:nvPr/>
        </p:nvSpPr>
        <p:spPr>
          <a:xfrm>
            <a:off x="914400" y="1965960"/>
            <a:ext cx="548640" cy="548640"/>
          </a:xfrm>
          <a:prstGeom prst="ellipse">
            <a:avLst/>
          </a:prstGeom>
          <a:solidFill>
            <a:srgbClr val="00C2A0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8" name="Image 1" descr="/home/claude/seguritech_pptx/icons/fileUplo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101" y="2086661"/>
            <a:ext cx="307238" cy="30723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91640" y="19202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de solicitud / cotización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914400" y="2651760"/>
            <a:ext cx="484632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del solicitante: nombre, empresa, correo, teléfono.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 → servicio específico (carga dinámica vía fetch según la categoría elegida).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de la necesidad: 10 a 1000 caracteres.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adjunto opcional (JPG, PNG, PDF, DOC, DOCX — máx. 5MB).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Envío por AJAX a POST /solicitud: si hay errores, se muestran sin recargar; si es correcto, regresa un folio (#id) y limpia el formulario.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263640" y="169164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F4F6F9"/>
          </a:solidFill>
          <a:ln/>
          <a:effectLst>
            <a:outerShdw blurRad="88900" dist="25400" dir="5400000" algn="bl" rotWithShape="0">
              <a:srgbClr val="0C234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2" name="Shape 8"/>
          <p:cNvSpPr/>
          <p:nvPr/>
        </p:nvSpPr>
        <p:spPr>
          <a:xfrm>
            <a:off x="6537960" y="1965960"/>
            <a:ext cx="548640" cy="548640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3" name="Image 2" descr="/home/claude/seguritech_pptx/icons/chartB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8661" y="2086661"/>
            <a:ext cx="307238" cy="30723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315200" y="19202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estadísticas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6537960" y="2651760"/>
            <a:ext cx="484632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GET /api/dashboard/data, consultado por loadDashboard() en main.js.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 solicitudes y total de servicios activos.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más solicitado (consulta agrupada con JOIN y COUNT).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Solicitudes por categoría / servicio y por estado (pendiente, en proceso, completada, cancelada).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Últimas 5 solicitudes registradas, con botón 'Reintentar' para refrescar sin recargar la página.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SeguriTech · Desarrollo de Sistemas Web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13232"/>
            <a:ext cx="502920" cy="502920"/>
          </a:xfrm>
          <a:prstGeom prst="ellipse">
            <a:avLst/>
          </a:prstGeom>
          <a:solidFill>
            <a:srgbClr val="00C2A0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3" name="Image 0" descr="/home/claude/seguritech_pptx/icons/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22" y="823874"/>
            <a:ext cx="281635" cy="2816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Mecanismos de seguridad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280160" y="685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aplicada desde el diseño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4592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16335A"/>
          </a:solidFill>
          <a:ln w="12700">
            <a:solidFill>
              <a:srgbClr val="26486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4"/>
          <p:cNvSpPr/>
          <p:nvPr/>
        </p:nvSpPr>
        <p:spPr>
          <a:xfrm>
            <a:off x="868680" y="1874520"/>
            <a:ext cx="502920" cy="502920"/>
          </a:xfrm>
          <a:prstGeom prst="ellipse">
            <a:avLst/>
          </a:prstGeom>
          <a:solidFill>
            <a:srgbClr val="00C2A0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8" name="Image 1" descr="/home/claude/seguritech_pptx/icons/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322" y="1985162"/>
            <a:ext cx="281635" cy="28163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184708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parametrizadas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68680" y="256032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mysql2 con placeholders (?) en todas las queries de los modelos: previene inyección SQL.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434840" y="164592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16335A"/>
          </a:solidFill>
          <a:ln w="12700">
            <a:solidFill>
              <a:srgbClr val="26486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8"/>
          <p:cNvSpPr/>
          <p:nvPr/>
        </p:nvSpPr>
        <p:spPr>
          <a:xfrm>
            <a:off x="4663440" y="1874520"/>
            <a:ext cx="502920" cy="502920"/>
          </a:xfrm>
          <a:prstGeom prst="ellipse">
            <a:avLst/>
          </a:prstGeom>
          <a:solidFill>
            <a:srgbClr val="00C2A0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3" name="Image 2" descr="/home/claude/seguritech_pptx/icons/bu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4082" y="1985162"/>
            <a:ext cx="281635" cy="28163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303520" y="184708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Escape automático en EJS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4663440" y="256032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vistas usan &lt;%= %&gt;, que escapa el contenido por defecto y previene ataques XSS.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8229600" y="164592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16335A"/>
          </a:solidFill>
          <a:ln w="12700">
            <a:solidFill>
              <a:srgbClr val="26486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2"/>
          <p:cNvSpPr/>
          <p:nvPr/>
        </p:nvSpPr>
        <p:spPr>
          <a:xfrm>
            <a:off x="8458200" y="1874520"/>
            <a:ext cx="502920" cy="502920"/>
          </a:xfrm>
          <a:prstGeom prst="ellipse">
            <a:avLst/>
          </a:prstGeom>
          <a:solidFill>
            <a:srgbClr val="00C2A0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8" name="Image 3" descr="/home/claude/seguritech_pptx/icons/checkCirc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8842" y="1985162"/>
            <a:ext cx="281635" cy="28163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098280" y="184708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cliente + servidor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8458200" y="256032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main.js valida en el navegador; el controlador repite las mismas reglas antes de guardar (nombre, email, teléfono, mensaje).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40080" y="397764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16335A"/>
          </a:solidFill>
          <a:ln w="12700">
            <a:solidFill>
              <a:srgbClr val="26486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Shape 16"/>
          <p:cNvSpPr/>
          <p:nvPr/>
        </p:nvSpPr>
        <p:spPr>
          <a:xfrm>
            <a:off x="868680" y="4206240"/>
            <a:ext cx="502920" cy="502920"/>
          </a:xfrm>
          <a:prstGeom prst="ellipse">
            <a:avLst/>
          </a:prstGeom>
          <a:solidFill>
            <a:srgbClr val="00C2A0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23" name="Image 4" descr="/home/claude/seguritech_pptx/icons/fileUploa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9322" y="4316882"/>
            <a:ext cx="281635" cy="28163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508760" y="417880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archivos (Multer)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868680" y="48920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 por extensión y tipo MIME (jpg, png, pdf, doc, docx) y limita el tamaño a 5MB; maneja errores con handleUploadError.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4434840" y="397764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16335A"/>
          </a:solidFill>
          <a:ln w="12700">
            <a:solidFill>
              <a:srgbClr val="26486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Shape 20"/>
          <p:cNvSpPr/>
          <p:nvPr/>
        </p:nvSpPr>
        <p:spPr>
          <a:xfrm>
            <a:off x="4663440" y="4206240"/>
            <a:ext cx="502920" cy="502920"/>
          </a:xfrm>
          <a:prstGeom prst="ellipse">
            <a:avLst/>
          </a:prstGeom>
          <a:solidFill>
            <a:srgbClr val="00C2A0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28" name="Image 5" descr="/home/claude/seguritech_pptx/icons/ke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74082" y="4316882"/>
            <a:ext cx="281635" cy="281635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303520" y="417880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 entorno (.env)</a:t>
            </a:r>
            <a:endParaRPr lang="en-US" sz="1400" dirty="0"/>
          </a:p>
        </p:txBody>
      </p:sp>
      <p:sp>
        <p:nvSpPr>
          <p:cNvPr id="30" name="Text 22"/>
          <p:cNvSpPr/>
          <p:nvPr/>
        </p:nvSpPr>
        <p:spPr>
          <a:xfrm>
            <a:off x="4663440" y="48920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 de la base de datos y configuración sensible fuera del código fuente, vía dotenv.</a:t>
            </a:r>
            <a:endParaRPr lang="en-US" sz="1150" dirty="0"/>
          </a:p>
        </p:txBody>
      </p:sp>
      <p:sp>
        <p:nvSpPr>
          <p:cNvPr id="31" name="Shape 23"/>
          <p:cNvSpPr/>
          <p:nvPr/>
        </p:nvSpPr>
        <p:spPr>
          <a:xfrm>
            <a:off x="8229600" y="397764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16335A"/>
          </a:solidFill>
          <a:ln w="12700">
            <a:solidFill>
              <a:srgbClr val="26486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Shape 24"/>
          <p:cNvSpPr/>
          <p:nvPr/>
        </p:nvSpPr>
        <p:spPr>
          <a:xfrm>
            <a:off x="8458200" y="4206240"/>
            <a:ext cx="502920" cy="502920"/>
          </a:xfrm>
          <a:prstGeom prst="ellipse">
            <a:avLst/>
          </a:prstGeom>
          <a:solidFill>
            <a:srgbClr val="00C2A0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33" name="Image 6" descr="/home/claude/seguritech_pptx/icons/lin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68842" y="4316882"/>
            <a:ext cx="281635" cy="281635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9098280" y="417880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 referencial y errores</a:t>
            </a:r>
            <a:endParaRPr lang="en-US" sz="1400" dirty="0"/>
          </a:p>
        </p:txBody>
      </p:sp>
      <p:sp>
        <p:nvSpPr>
          <p:cNvPr id="35" name="Text 26"/>
          <p:cNvSpPr/>
          <p:nvPr/>
        </p:nvSpPr>
        <p:spPr>
          <a:xfrm>
            <a:off x="8458200" y="48920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DELETE SET NULL (servicios) y ON DELETE CASCADE (solicitudes); middleware central de errores con vista error.ejs (404 / 500).</a:t>
            </a:r>
            <a:endParaRPr lang="en-US" sz="1150" dirty="0"/>
          </a:p>
        </p:txBody>
      </p:sp>
      <p:sp>
        <p:nvSpPr>
          <p:cNvPr id="36" name="Text 2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SeguriTech · Desarrollo de Sistemas Web</a:t>
            </a:r>
            <a:endParaRPr lang="en-US" sz="900" dirty="0"/>
          </a:p>
        </p:txBody>
      </p:sp>
      <p:sp>
        <p:nvSpPr>
          <p:cNvPr id="37" name="Text 28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13232"/>
            <a:ext cx="502920" cy="502920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3" name="Image 0" descr="/home/claude/seguritech_pptx/icons/desk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22" y="823874"/>
            <a:ext cx="281635" cy="2816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Demostración del sistema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280160" y="685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Recorrido por las páginas principales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91640"/>
            <a:ext cx="3520440" cy="27432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blurRad="101600" dist="38100" dir="5400000" algn="bl" rotWithShape="0">
              <a:srgbClr val="0C234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7" name="Shape 4"/>
          <p:cNvSpPr/>
          <p:nvPr/>
        </p:nvSpPr>
        <p:spPr>
          <a:xfrm>
            <a:off x="640080" y="1691640"/>
            <a:ext cx="3520440" cy="310896"/>
          </a:xfrm>
          <a:prstGeom prst="roundRect">
            <a:avLst>
              <a:gd name="adj" fmla="val 14706"/>
            </a:avLst>
          </a:prstGeom>
          <a:solidFill>
            <a:srgbClr val="EDF1F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Shape 5"/>
          <p:cNvSpPr/>
          <p:nvPr/>
        </p:nvSpPr>
        <p:spPr>
          <a:xfrm>
            <a:off x="640080" y="1847088"/>
            <a:ext cx="3520440" cy="155448"/>
          </a:xfrm>
          <a:prstGeom prst="rect">
            <a:avLst/>
          </a:prstGeom>
          <a:solidFill>
            <a:srgbClr val="EDF1F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Shape 6"/>
          <p:cNvSpPr/>
          <p:nvPr/>
        </p:nvSpPr>
        <p:spPr>
          <a:xfrm>
            <a:off x="758952" y="1805940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Shape 7"/>
          <p:cNvSpPr/>
          <p:nvPr/>
        </p:nvSpPr>
        <p:spPr>
          <a:xfrm>
            <a:off x="923544" y="1805940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Shape 8"/>
          <p:cNvSpPr/>
          <p:nvPr/>
        </p:nvSpPr>
        <p:spPr>
          <a:xfrm>
            <a:off x="1088136" y="1805940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Shape 9"/>
          <p:cNvSpPr/>
          <p:nvPr/>
        </p:nvSpPr>
        <p:spPr>
          <a:xfrm>
            <a:off x="1325880" y="1746504"/>
            <a:ext cx="260604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0"/>
          <p:cNvSpPr/>
          <p:nvPr/>
        </p:nvSpPr>
        <p:spPr>
          <a:xfrm>
            <a:off x="1417320" y="1741932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localhost:3000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94944" y="2057400"/>
            <a:ext cx="3410712" cy="2322576"/>
          </a:xfrm>
          <a:prstGeom prst="rect">
            <a:avLst/>
          </a:prstGeom>
          <a:ln w="15875">
            <a:solidFill>
              <a:srgbClr val="C7D2DE"/>
            </a:solidFill>
            <a:prstDash val="dash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3"/>
          <p:cNvSpPr/>
          <p:nvPr/>
        </p:nvSpPr>
        <p:spPr>
          <a:xfrm>
            <a:off x="914400" y="2057400"/>
            <a:ext cx="2971800" cy="23225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— presentación de SeguriTech y accesos rápidos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434840" y="1691640"/>
            <a:ext cx="3520440" cy="27432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blurRad="101600" dist="38100" dir="5400000" algn="bl" rotWithShape="0">
              <a:srgbClr val="0C234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8" name="Shape 15"/>
          <p:cNvSpPr/>
          <p:nvPr/>
        </p:nvSpPr>
        <p:spPr>
          <a:xfrm>
            <a:off x="4434840" y="1691640"/>
            <a:ext cx="3520440" cy="310896"/>
          </a:xfrm>
          <a:prstGeom prst="roundRect">
            <a:avLst>
              <a:gd name="adj" fmla="val 14706"/>
            </a:avLst>
          </a:prstGeom>
          <a:solidFill>
            <a:srgbClr val="EDF1F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9" name="Shape 16"/>
          <p:cNvSpPr/>
          <p:nvPr/>
        </p:nvSpPr>
        <p:spPr>
          <a:xfrm>
            <a:off x="4434840" y="1847088"/>
            <a:ext cx="3520440" cy="155448"/>
          </a:xfrm>
          <a:prstGeom prst="rect">
            <a:avLst/>
          </a:prstGeom>
          <a:solidFill>
            <a:srgbClr val="EDF1F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0" name="Shape 17"/>
          <p:cNvSpPr/>
          <p:nvPr/>
        </p:nvSpPr>
        <p:spPr>
          <a:xfrm>
            <a:off x="4553712" y="1805940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Shape 18"/>
          <p:cNvSpPr/>
          <p:nvPr/>
        </p:nvSpPr>
        <p:spPr>
          <a:xfrm>
            <a:off x="4718304" y="1805940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2" name="Shape 19"/>
          <p:cNvSpPr/>
          <p:nvPr/>
        </p:nvSpPr>
        <p:spPr>
          <a:xfrm>
            <a:off x="4882896" y="1805940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3" name="Shape 20"/>
          <p:cNvSpPr/>
          <p:nvPr/>
        </p:nvSpPr>
        <p:spPr>
          <a:xfrm>
            <a:off x="5120640" y="1746504"/>
            <a:ext cx="260604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1"/>
          <p:cNvSpPr/>
          <p:nvPr/>
        </p:nvSpPr>
        <p:spPr>
          <a:xfrm>
            <a:off x="5212080" y="1741932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localhost:3000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489704" y="2057400"/>
            <a:ext cx="3410712" cy="2322576"/>
          </a:xfrm>
          <a:prstGeom prst="rect">
            <a:avLst/>
          </a:prstGeom>
          <a:solidFill>
            <a:srgbClr val="F4F6F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6" name="Shape 23"/>
          <p:cNvSpPr/>
          <p:nvPr/>
        </p:nvSpPr>
        <p:spPr>
          <a:xfrm>
            <a:off x="4489704" y="2057400"/>
            <a:ext cx="3410712" cy="2322576"/>
          </a:xfrm>
          <a:prstGeom prst="rect">
            <a:avLst/>
          </a:prstGeom>
          <a:ln w="15875">
            <a:solidFill>
              <a:srgbClr val="C7D2DE"/>
            </a:solidFill>
            <a:prstDash val="dash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4"/>
          <p:cNvSpPr/>
          <p:nvPr/>
        </p:nvSpPr>
        <p:spPr>
          <a:xfrm>
            <a:off x="4709160" y="2057400"/>
            <a:ext cx="2971800" cy="23225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 err="1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osotros</a:t>
            </a: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misión, visión y equipo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8229600" y="1691640"/>
            <a:ext cx="3520440" cy="27432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blurRad="101600" dist="38100" dir="5400000" algn="bl" rotWithShape="0">
              <a:srgbClr val="0C234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9" name="Shape 26"/>
          <p:cNvSpPr/>
          <p:nvPr/>
        </p:nvSpPr>
        <p:spPr>
          <a:xfrm>
            <a:off x="8229600" y="1691640"/>
            <a:ext cx="3520440" cy="310896"/>
          </a:xfrm>
          <a:prstGeom prst="roundRect">
            <a:avLst>
              <a:gd name="adj" fmla="val 14706"/>
            </a:avLst>
          </a:prstGeom>
          <a:solidFill>
            <a:srgbClr val="EDF1F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0" name="Shape 27"/>
          <p:cNvSpPr/>
          <p:nvPr/>
        </p:nvSpPr>
        <p:spPr>
          <a:xfrm>
            <a:off x="8229600" y="1847088"/>
            <a:ext cx="3520440" cy="155448"/>
          </a:xfrm>
          <a:prstGeom prst="rect">
            <a:avLst/>
          </a:prstGeom>
          <a:solidFill>
            <a:srgbClr val="EDF1F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1" name="Shape 28"/>
          <p:cNvSpPr/>
          <p:nvPr/>
        </p:nvSpPr>
        <p:spPr>
          <a:xfrm>
            <a:off x="8348472" y="1805940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2" name="Shape 29"/>
          <p:cNvSpPr/>
          <p:nvPr/>
        </p:nvSpPr>
        <p:spPr>
          <a:xfrm>
            <a:off x="8513064" y="1805940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3" name="Shape 30"/>
          <p:cNvSpPr/>
          <p:nvPr/>
        </p:nvSpPr>
        <p:spPr>
          <a:xfrm>
            <a:off x="8677656" y="1805940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4" name="Shape 31"/>
          <p:cNvSpPr/>
          <p:nvPr/>
        </p:nvSpPr>
        <p:spPr>
          <a:xfrm>
            <a:off x="8915400" y="1746504"/>
            <a:ext cx="260604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Text 32"/>
          <p:cNvSpPr/>
          <p:nvPr/>
        </p:nvSpPr>
        <p:spPr>
          <a:xfrm>
            <a:off x="9006840" y="1741932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localhost:3000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8284464" y="2057400"/>
            <a:ext cx="3410712" cy="2322576"/>
          </a:xfrm>
          <a:prstGeom prst="rect">
            <a:avLst/>
          </a:prstGeom>
          <a:ln w="15875">
            <a:solidFill>
              <a:srgbClr val="C7D2DE"/>
            </a:solidFill>
            <a:prstDash val="dash"/>
          </a:ln>
        </p:spPr>
        <p:txBody>
          <a:bodyPr/>
          <a:lstStyle/>
          <a:p>
            <a:endParaRPr lang="es-MX"/>
          </a:p>
        </p:txBody>
      </p:sp>
      <p:sp>
        <p:nvSpPr>
          <p:cNvPr id="38" name="Text 35"/>
          <p:cNvSpPr/>
          <p:nvPr/>
        </p:nvSpPr>
        <p:spPr>
          <a:xfrm>
            <a:off x="8503920" y="2057400"/>
            <a:ext cx="2971800" cy="23225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— catálogo con filtro por categoría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640080" y="466344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 aquí tus capturas reales del sistema corriendo en localhost:3000 (npm start).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640080" y="5074920"/>
            <a:ext cx="109087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RF-1 / RF-2: página de inicio + información institucional (misión, visión, equipo).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RF-3 / RF-4: catálogo de servicios obtenido de la BD con filtros por categoría.</a:t>
            </a:r>
            <a:endParaRPr lang="en-US" sz="1250" dirty="0"/>
          </a:p>
        </p:txBody>
      </p:sp>
      <p:sp>
        <p:nvSpPr>
          <p:cNvPr id="41" name="Text 3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SeguriTech · Desarrollo de Sistemas Web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pic>
        <p:nvPicPr>
          <p:cNvPr id="44" name="Imagen 43">
            <a:extLst>
              <a:ext uri="{FF2B5EF4-FFF2-40B4-BE49-F238E27FC236}">
                <a16:creationId xmlns:a16="http://schemas.microsoft.com/office/drawing/2014/main" id="{74AD7CC1-C9A3-89E3-7FF1-C71E92613B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358" y="2019909"/>
            <a:ext cx="2544412" cy="2360067"/>
          </a:xfrm>
          <a:prstGeom prst="rect">
            <a:avLst/>
          </a:prstGeom>
        </p:spPr>
      </p:pic>
      <p:pic>
        <p:nvPicPr>
          <p:cNvPr id="46" name="Imagen 45">
            <a:extLst>
              <a:ext uri="{FF2B5EF4-FFF2-40B4-BE49-F238E27FC236}">
                <a16:creationId xmlns:a16="http://schemas.microsoft.com/office/drawing/2014/main" id="{F3D7EF99-4B3D-5E83-8755-E952E1DC93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2896" y="2053517"/>
            <a:ext cx="2675828" cy="2330342"/>
          </a:xfrm>
          <a:prstGeom prst="rect">
            <a:avLst/>
          </a:prstGeom>
        </p:spPr>
      </p:pic>
      <p:pic>
        <p:nvPicPr>
          <p:cNvPr id="48" name="Imagen 47">
            <a:extLst>
              <a:ext uri="{FF2B5EF4-FFF2-40B4-BE49-F238E27FC236}">
                <a16:creationId xmlns:a16="http://schemas.microsoft.com/office/drawing/2014/main" id="{DB6945C0-2656-5487-85E9-53034E3946D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9142"/>
          <a:stretch>
            <a:fillRect/>
          </a:stretch>
        </p:blipFill>
        <p:spPr>
          <a:xfrm>
            <a:off x="8284464" y="2130551"/>
            <a:ext cx="3410712" cy="20306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13232"/>
            <a:ext cx="502920" cy="502920"/>
          </a:xfrm>
          <a:prstGeom prst="ellipse">
            <a:avLst/>
          </a:prstGeom>
          <a:solidFill>
            <a:srgbClr val="00C2A0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3" name="Image 0" descr="/home/claude/seguritech_pptx/icons/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22" y="823874"/>
            <a:ext cx="281635" cy="2816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Demostración del sistema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280160" y="685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de solicitud y dashboard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91640"/>
            <a:ext cx="5349240" cy="3383280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blurRad="101600" dist="38100" dir="5400000" algn="bl" rotWithShape="0">
              <a:srgbClr val="0C234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7" name="Shape 4"/>
          <p:cNvSpPr/>
          <p:nvPr/>
        </p:nvSpPr>
        <p:spPr>
          <a:xfrm>
            <a:off x="640080" y="1691640"/>
            <a:ext cx="5349240" cy="310896"/>
          </a:xfrm>
          <a:prstGeom prst="roundRect">
            <a:avLst>
              <a:gd name="adj" fmla="val 14706"/>
            </a:avLst>
          </a:prstGeom>
          <a:solidFill>
            <a:srgbClr val="EDF1F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Shape 5"/>
          <p:cNvSpPr/>
          <p:nvPr/>
        </p:nvSpPr>
        <p:spPr>
          <a:xfrm>
            <a:off x="640080" y="1847088"/>
            <a:ext cx="5349240" cy="155448"/>
          </a:xfrm>
          <a:prstGeom prst="rect">
            <a:avLst/>
          </a:prstGeom>
          <a:solidFill>
            <a:srgbClr val="EDF1F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Shape 6"/>
          <p:cNvSpPr/>
          <p:nvPr/>
        </p:nvSpPr>
        <p:spPr>
          <a:xfrm>
            <a:off x="758952" y="1805940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Shape 7"/>
          <p:cNvSpPr/>
          <p:nvPr/>
        </p:nvSpPr>
        <p:spPr>
          <a:xfrm>
            <a:off x="923544" y="1805940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Shape 8"/>
          <p:cNvSpPr/>
          <p:nvPr/>
        </p:nvSpPr>
        <p:spPr>
          <a:xfrm>
            <a:off x="1088136" y="1805940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Shape 9"/>
          <p:cNvSpPr/>
          <p:nvPr/>
        </p:nvSpPr>
        <p:spPr>
          <a:xfrm>
            <a:off x="1325880" y="1746504"/>
            <a:ext cx="443484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0"/>
          <p:cNvSpPr/>
          <p:nvPr/>
        </p:nvSpPr>
        <p:spPr>
          <a:xfrm>
            <a:off x="1417320" y="1741932"/>
            <a:ext cx="4343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localhost:3000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94944" y="2057400"/>
            <a:ext cx="5239512" cy="2962656"/>
          </a:xfrm>
          <a:prstGeom prst="rect">
            <a:avLst/>
          </a:prstGeom>
          <a:ln w="15875">
            <a:solidFill>
              <a:srgbClr val="C7D2DE"/>
            </a:solidFill>
            <a:prstDash val="dash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3"/>
          <p:cNvSpPr/>
          <p:nvPr/>
        </p:nvSpPr>
        <p:spPr>
          <a:xfrm>
            <a:off x="914400" y="2057400"/>
            <a:ext cx="4800600" cy="2962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de solicitud (validación + archivo adjunto)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263640" y="1691640"/>
            <a:ext cx="5349240" cy="3383280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blurRad="101600" dist="38100" dir="5400000" algn="bl" rotWithShape="0">
              <a:srgbClr val="0C234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8" name="Shape 15"/>
          <p:cNvSpPr/>
          <p:nvPr/>
        </p:nvSpPr>
        <p:spPr>
          <a:xfrm>
            <a:off x="6263640" y="1691640"/>
            <a:ext cx="5349240" cy="310896"/>
          </a:xfrm>
          <a:prstGeom prst="roundRect">
            <a:avLst>
              <a:gd name="adj" fmla="val 14706"/>
            </a:avLst>
          </a:prstGeom>
          <a:solidFill>
            <a:srgbClr val="EDF1F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9" name="Shape 16"/>
          <p:cNvSpPr/>
          <p:nvPr/>
        </p:nvSpPr>
        <p:spPr>
          <a:xfrm>
            <a:off x="6263640" y="1847088"/>
            <a:ext cx="5349240" cy="155448"/>
          </a:xfrm>
          <a:prstGeom prst="rect">
            <a:avLst/>
          </a:prstGeom>
          <a:solidFill>
            <a:srgbClr val="EDF1F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0" name="Shape 17"/>
          <p:cNvSpPr/>
          <p:nvPr/>
        </p:nvSpPr>
        <p:spPr>
          <a:xfrm>
            <a:off x="6382512" y="1805940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Shape 18"/>
          <p:cNvSpPr/>
          <p:nvPr/>
        </p:nvSpPr>
        <p:spPr>
          <a:xfrm>
            <a:off x="6547104" y="1805940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2" name="Shape 19"/>
          <p:cNvSpPr/>
          <p:nvPr/>
        </p:nvSpPr>
        <p:spPr>
          <a:xfrm>
            <a:off x="6711696" y="1805940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3" name="Shape 20"/>
          <p:cNvSpPr/>
          <p:nvPr/>
        </p:nvSpPr>
        <p:spPr>
          <a:xfrm>
            <a:off x="6949440" y="1746504"/>
            <a:ext cx="443484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1"/>
          <p:cNvSpPr/>
          <p:nvPr/>
        </p:nvSpPr>
        <p:spPr>
          <a:xfrm>
            <a:off x="7040880" y="1741932"/>
            <a:ext cx="4343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localhost:3000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318504" y="2057400"/>
            <a:ext cx="5239512" cy="2962656"/>
          </a:xfrm>
          <a:prstGeom prst="rect">
            <a:avLst/>
          </a:prstGeom>
          <a:solidFill>
            <a:srgbClr val="F4F6F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6" name="Shape 23"/>
          <p:cNvSpPr/>
          <p:nvPr/>
        </p:nvSpPr>
        <p:spPr>
          <a:xfrm>
            <a:off x="6318504" y="2057400"/>
            <a:ext cx="5239512" cy="2962656"/>
          </a:xfrm>
          <a:prstGeom prst="rect">
            <a:avLst/>
          </a:prstGeom>
          <a:ln w="15875">
            <a:solidFill>
              <a:srgbClr val="C7D2DE"/>
            </a:solidFill>
            <a:prstDash val="dash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4"/>
          <p:cNvSpPr/>
          <p:nvPr/>
        </p:nvSpPr>
        <p:spPr>
          <a:xfrm>
            <a:off x="6537960" y="2057400"/>
            <a:ext cx="4800600" cy="2962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estadísticas (/dashboard)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40080" y="5303520"/>
            <a:ext cx="109087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RF-6 / RF-7 / RF-8: envío y validación del formulario, almacenamiento de la solicitud.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RF-9 / RF-10: panel con indicadores y datos cargados de forma dinámica vía AJAX.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SeguriTech · Desarrollo de Sistemas Web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32" name="Imagen 31">
            <a:extLst>
              <a:ext uri="{FF2B5EF4-FFF2-40B4-BE49-F238E27FC236}">
                <a16:creationId xmlns:a16="http://schemas.microsoft.com/office/drawing/2014/main" id="{63ADB4F3-2E3D-A3A2-5667-FA9F216666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2057400"/>
            <a:ext cx="4791456" cy="2973512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65EDE0D1-36E9-8D6B-2D79-8037D30FB6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2052828"/>
            <a:ext cx="4434840" cy="291173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13232"/>
            <a:ext cx="502920" cy="502920"/>
          </a:xfrm>
          <a:prstGeom prst="ellipse">
            <a:avLst/>
          </a:prstGeom>
          <a:solidFill>
            <a:srgbClr val="00C2A0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3" name="Image 0" descr="/home/claude/seguritech_pptx/icons/light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22" y="823874"/>
            <a:ext cx="281635" cy="2816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Conclusiones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280160" y="685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40080" y="169164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16335A"/>
          </a:solidFill>
          <a:ln/>
          <a:effectLst>
            <a:outerShdw blurRad="88900" dist="25400" dir="5400000" algn="bl" rotWithShape="0">
              <a:srgbClr val="0C234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7" name="Text 4"/>
          <p:cNvSpPr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Logros del proyecto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423160"/>
            <a:ext cx="48463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logró cumplir el objetivo general: una aplicación web dinámica, completa y funcional, construida sobre arquitectura MVC.</a:t>
            </a:r>
            <a:endParaRPr lang="en-US" sz="135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separación Modelo / Controlador / Vista permitió mantener el código organizado, mantenible y fácil de extender.</a:t>
            </a:r>
            <a:endParaRPr lang="en-US" sz="135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integraron correctamente HTML5, CSS3 + Bootstrap, JavaScript con AJAX/fetch, Node.js + Express, EJS y MySQL.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172200" y="169164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16335A"/>
          </a:solidFill>
          <a:ln/>
          <a:effectLst>
            <a:outerShdw blurRad="88900" dist="25400" dir="5400000" algn="bl" rotWithShape="0">
              <a:srgbClr val="0C234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Text 7"/>
          <p:cNvSpPr/>
          <p:nvPr/>
        </p:nvSpPr>
        <p:spPr>
          <a:xfrm>
            <a:off x="644652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Aprendizajes y trabajo futuro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46520" y="2423160"/>
            <a:ext cx="48463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aplicaron buenas prácticas de seguridad desde el diseño: consultas parametrizadas, escape de plantillas, validación doble y manejo de archivos controlado.</a:t>
            </a:r>
            <a:endParaRPr lang="en-US" sz="135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catálogo, el formulario de cotización y el dashboard cubren un flujo real de negocio para SeguriTech.</a:t>
            </a:r>
            <a:endParaRPr lang="en-US" sz="135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trabajo futuro: autenticación de usuarios, roles para administrar solicitudes, notificaciones por correo y despliegue en un servidor productivo.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SeguriTech · Desarrollo de Sistemas Web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1533</Words>
  <Application>Microsoft Office PowerPoint</Application>
  <PresentationFormat>Panorámica</PresentationFormat>
  <Paragraphs>206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SeguriTech - Catalogo de Servicios Tecnologicos y Ciberseguridad</dc:title>
  <dc:subject>PptxGenJS Presentation</dc:subject>
  <dc:creator>SeguriTech</dc:creator>
  <cp:lastModifiedBy>alan penagos</cp:lastModifiedBy>
  <cp:revision>2</cp:revision>
  <dcterms:created xsi:type="dcterms:W3CDTF">2026-06-14T21:23:17Z</dcterms:created>
  <dcterms:modified xsi:type="dcterms:W3CDTF">2026-06-14T22:09:10Z</dcterms:modified>
</cp:coreProperties>
</file>