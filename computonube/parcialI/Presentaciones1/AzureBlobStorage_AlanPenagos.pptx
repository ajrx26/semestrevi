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0" y="-457200"/>
            <a:ext cx="4114800" cy="4114800"/>
          </a:xfrm>
          <a:prstGeom prst="ellipse">
            <a:avLst/>
          </a:prstGeom>
          <a:solidFill>
            <a:srgbClr val="005A9E">
              <a:alpha val="40000"/>
            </a:srgbClr>
          </a:solidFill>
          <a:ln w="12700">
            <a:solidFill>
              <a:srgbClr val="50B0F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274320"/>
            <a:ext cx="3200400" cy="3200400"/>
          </a:xfrm>
          <a:prstGeom prst="ellipse">
            <a:avLst/>
          </a:prstGeom>
          <a:solidFill>
            <a:srgbClr val="0078D4">
              <a:alpha val="30000"/>
            </a:srgbClr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57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0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masivo de objetos en la nube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4114800" cy="36576"/>
          </a:xfrm>
          <a:prstGeom prst="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926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Alumno: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Penagos González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zs23013863@estudiantes.uv.mx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566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Ciberseguridad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078D4">
              <a:alpha val="60000"/>
            </a:srgbClr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0" y="4828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de Microsoft Azure   •  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la presentación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8321040" cy="27432"/>
          </a:xfrm>
          <a:prstGeom prst="rect">
            <a:avLst/>
          </a:prstGeom>
          <a:solidFill>
            <a:srgbClr val="0078D4">
              <a:alpha val="30000"/>
            </a:srgbClr>
          </a:solidFill>
          <a:ln w="12700">
            <a:solidFill>
              <a:srgbClr val="0078D4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17320"/>
            <a:ext cx="41148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8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417320"/>
            <a:ext cx="502920" cy="7772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8191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5819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Azure Blob Storage?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92040" y="1417320"/>
            <a:ext cx="41148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A9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417320"/>
            <a:ext cx="502920" cy="777240"/>
          </a:xfrm>
          <a:prstGeom prst="rect">
            <a:avLst/>
          </a:prstGeom>
          <a:solidFill>
            <a:srgbClr val="005A9E"/>
          </a:solidFill>
          <a:ln w="12700">
            <a:solidFill>
              <a:srgbClr val="005A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58191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0" y="15819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blobs y niveles de acceso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2468880"/>
            <a:ext cx="41148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7C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468880"/>
            <a:ext cx="502920" cy="777240"/>
          </a:xfrm>
          <a:prstGeom prst="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6334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263347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de implementación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92040" y="2468880"/>
            <a:ext cx="41148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C07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92040" y="2468880"/>
            <a:ext cx="502920" cy="777240"/>
          </a:xfrm>
          <a:prstGeom prst="rect">
            <a:avLst/>
          </a:prstGeom>
          <a:solidFill>
            <a:srgbClr val="00C07F"/>
          </a:solidFill>
          <a:ln w="12700">
            <a:solidFill>
              <a:srgbClr val="00C07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6334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0" y="263347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cobro y precios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1480" y="3520440"/>
            <a:ext cx="41148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3A6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3520440"/>
            <a:ext cx="502920" cy="777240"/>
          </a:xfrm>
          <a:prstGeom prst="rect">
            <a:avLst/>
          </a:prstGeom>
          <a:solidFill>
            <a:srgbClr val="003A6B"/>
          </a:solidFill>
          <a:ln w="12700">
            <a:solidFill>
              <a:srgbClr val="00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68503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05840" y="368503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y casos de uso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92040" y="3520440"/>
            <a:ext cx="41148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64748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92040" y="3520440"/>
            <a:ext cx="502920" cy="7772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68503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486400" y="368503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Azure Blob Storage?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27432"/>
          </a:xfrm>
          <a:prstGeom prst="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8412480" cy="1143000"/>
          </a:xfrm>
          <a:prstGeom prst="rect">
            <a:avLst/>
          </a:prstGeom>
          <a:solidFill>
            <a:srgbClr val="005A9E">
              <a:alpha val="70000"/>
            </a:srgbClr>
          </a:solidFill>
          <a:ln w="12700">
            <a:solidFill>
              <a:srgbClr val="50B0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05840"/>
            <a:ext cx="8046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 es el servicio de almacenamiento de objetos de Microsoft Azure, diseñado para guardar grandes cantidades de datos no estructurados como imágenes, videos, documentos, backups y logs. Es altamente escalable, seguro y accesible desde cualquier parte del mundo a través de HTTP/HTTPS.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2651760" cy="2514600"/>
          </a:xfrm>
          <a:prstGeom prst="rect">
            <a:avLst/>
          </a:prstGeom>
          <a:solidFill>
            <a:srgbClr val="005A9E">
              <a:alpha val="50000"/>
            </a:srgbClr>
          </a:solidFill>
          <a:ln w="25400">
            <a:solidFill>
              <a:srgbClr val="0078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286000"/>
            <a:ext cx="2651760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231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Objetos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090672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cualquier tipo de dato: texto, binario, multimedia, backups, logs, archivos comprimidos.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0" y="2286000"/>
            <a:ext cx="2651760" cy="2514600"/>
          </a:xfrm>
          <a:prstGeom prst="rect">
            <a:avLst/>
          </a:prstGeom>
          <a:solidFill>
            <a:srgbClr val="005A9E">
              <a:alpha val="50000"/>
            </a:srgbClr>
          </a:solidFill>
          <a:ln w="25400">
            <a:solidFill>
              <a:srgbClr val="00B7C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2286000"/>
            <a:ext cx="2651760" cy="73152"/>
          </a:xfrm>
          <a:prstGeom prst="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4231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Masiva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3090672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pocos KB hasta exabytes de datos. Sin límite práctico de capacidad en la nube.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2286000"/>
            <a:ext cx="2651760" cy="2514600"/>
          </a:xfrm>
          <a:prstGeom prst="rect">
            <a:avLst/>
          </a:prstGeom>
          <a:solidFill>
            <a:srgbClr val="005A9E">
              <a:alpha val="50000"/>
            </a:srgbClr>
          </a:solidFill>
          <a:ln w="25400">
            <a:solidFill>
              <a:srgbClr val="00C07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2286000"/>
            <a:ext cx="2651760" cy="73152"/>
          </a:xfrm>
          <a:prstGeom prst="rect">
            <a:avLst/>
          </a:prstGeom>
          <a:solidFill>
            <a:srgbClr val="00C07F"/>
          </a:solidFill>
          <a:ln w="12700">
            <a:solidFill>
              <a:srgbClr val="00C07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4231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Global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3090672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Accesible desde cualquier lugar vía REST API, SDKs y Azure Portal.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Blobs y Niveles de Acceso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Blobs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265176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8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71600"/>
            <a:ext cx="2651760" cy="3840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17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Blob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" y="1828800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archivos de texto y binarios. Optimizado para carga de streaming. Soporta hasta 190.7 TiB.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371600"/>
            <a:ext cx="265176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7C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371600"/>
            <a:ext cx="2651760" cy="384048"/>
          </a:xfrm>
          <a:prstGeom prst="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417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Blob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10128" y="1828800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operaciones de adición continua como logs y datos de telemetría.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371600"/>
            <a:ext cx="265176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C07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371600"/>
            <a:ext cx="2651760" cy="384048"/>
          </a:xfrm>
          <a:prstGeom prst="rect">
            <a:avLst/>
          </a:prstGeom>
          <a:solidFill>
            <a:srgbClr val="00C07F"/>
          </a:solidFill>
          <a:ln w="12700">
            <a:solidFill>
              <a:srgbClr val="00C07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417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Blob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44768" y="1828800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acceso aleatorio. Base de los discos duros virtuales (VHD) de Azure VMs.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29260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 de Acceso (Hot / Cool / Cold / Archive)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5760" y="3364992"/>
            <a:ext cx="1993392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8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364992"/>
            <a:ext cx="1993392" cy="3474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40156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767328"/>
            <a:ext cx="1810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accedidos frecuentemente. Mayor costo almacenamiento, menor en acceso.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487168" y="3364992"/>
            <a:ext cx="1993392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A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87168" y="3364992"/>
            <a:ext cx="1993392" cy="347472"/>
          </a:xfrm>
          <a:prstGeom prst="rect">
            <a:avLst/>
          </a:prstGeom>
          <a:solidFill>
            <a:srgbClr val="005A9E"/>
          </a:solidFill>
          <a:ln w="12700">
            <a:solidFill>
              <a:srgbClr val="005A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87168" y="340156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578608" y="3767328"/>
            <a:ext cx="1810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infrecuente (≥30 días). Balance costo-acceso.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08576" y="3364992"/>
            <a:ext cx="1993392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7C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08576" y="3364992"/>
            <a:ext cx="1993392" cy="347472"/>
          </a:xfrm>
          <a:prstGeom prst="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08576" y="340156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00016" y="3767328"/>
            <a:ext cx="1810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raramente accedidos (≥90 días). Bajo costo.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729984" y="3364992"/>
            <a:ext cx="1993392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4A556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29984" y="3364992"/>
            <a:ext cx="1993392" cy="34747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9984" y="340156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21424" y="3767328"/>
            <a:ext cx="1810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archivados (≥180 días). Mínimo costo, rehidratación requerida.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07F"/>
          </a:solidFill>
          <a:ln w="12700">
            <a:solidFill>
              <a:srgbClr val="00C07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C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de Implementación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27432"/>
          </a:xfrm>
          <a:prstGeom prst="rect">
            <a:avLst/>
          </a:prstGeom>
          <a:solidFill>
            <a:srgbClr val="00C07F"/>
          </a:solidFill>
          <a:ln w="12700">
            <a:solidFill>
              <a:srgbClr val="00C07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4160520" cy="1188720"/>
          </a:xfrm>
          <a:prstGeom prst="rect">
            <a:avLst/>
          </a:prstGeom>
          <a:solidFill>
            <a:srgbClr val="005A9E">
              <a:alpha val="60000"/>
            </a:srgbClr>
          </a:solidFill>
          <a:ln w="12700">
            <a:solidFill>
              <a:srgbClr val="00C07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502920" cy="502920"/>
          </a:xfrm>
          <a:prstGeom prst="ellipse">
            <a:avLst/>
          </a:prstGeom>
          <a:solidFill>
            <a:srgbClr val="00C07F"/>
          </a:solidFill>
          <a:ln w="12700">
            <a:solidFill>
              <a:srgbClr val="00C07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0759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03327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Suscripción de Azure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399032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Contar con una suscripción activa de Microsoft Azure (gratuita o de pago). Se pueden usar las primeras 5 GB gratis en el nivel Hot.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0" y="960120"/>
            <a:ext cx="4160520" cy="1188720"/>
          </a:xfrm>
          <a:prstGeom prst="rect">
            <a:avLst/>
          </a:prstGeom>
          <a:solidFill>
            <a:srgbClr val="005A9E">
              <a:alpha val="60000"/>
            </a:srgbClr>
          </a:solidFill>
          <a:ln w="12700">
            <a:solidFill>
              <a:srgbClr val="00C07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1280160"/>
            <a:ext cx="502920" cy="502920"/>
          </a:xfrm>
          <a:prstGeom prst="ellipse">
            <a:avLst/>
          </a:prstGeom>
          <a:solidFill>
            <a:srgbClr val="00C07F"/>
          </a:solidFill>
          <a:ln w="12700">
            <a:solidFill>
              <a:srgbClr val="00C0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30759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32120" y="103327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de Almacenamiento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32120" y="1399032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una Storage Account (General Purpose v2 recomendado). Es el contenedor raíz de todos los servicios de almacenamiento de Azure.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331720"/>
            <a:ext cx="4160520" cy="1188720"/>
          </a:xfrm>
          <a:prstGeom prst="rect">
            <a:avLst/>
          </a:prstGeom>
          <a:solidFill>
            <a:srgbClr val="005A9E">
              <a:alpha val="60000"/>
            </a:srgbClr>
          </a:solidFill>
          <a:ln w="12700">
            <a:solidFill>
              <a:srgbClr val="00C07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651760"/>
            <a:ext cx="502920" cy="502920"/>
          </a:xfrm>
          <a:prstGeom prst="ellipse">
            <a:avLst/>
          </a:prstGeom>
          <a:solidFill>
            <a:srgbClr val="00C07F"/>
          </a:solidFill>
          <a:ln w="12700">
            <a:solidFill>
              <a:srgbClr val="00C07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67919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240487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de Recursos y Región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2770632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un Resource Group y elegir una región de Azure cercana a los usuarios para reducir latencia y costos de egreso de datos.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2331720"/>
            <a:ext cx="4160520" cy="1188720"/>
          </a:xfrm>
          <a:prstGeom prst="rect">
            <a:avLst/>
          </a:prstGeom>
          <a:solidFill>
            <a:srgbClr val="005A9E">
              <a:alpha val="60000"/>
            </a:srgbClr>
          </a:solidFill>
          <a:ln w="12700">
            <a:solidFill>
              <a:srgbClr val="00C07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37760" y="2651760"/>
            <a:ext cx="502920" cy="502920"/>
          </a:xfrm>
          <a:prstGeom prst="ellipse">
            <a:avLst/>
          </a:prstGeom>
          <a:solidFill>
            <a:srgbClr val="00C07F"/>
          </a:solidFill>
          <a:ln w="12700">
            <a:solidFill>
              <a:srgbClr val="00C07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67919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32120" y="240487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 Blob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32120" y="2770632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al menos un contenedor Blob (equivalente a un bucket S3). Configurar nivel de acceso: privado, blob público o contenedor público.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3703320"/>
            <a:ext cx="4160520" cy="1188720"/>
          </a:xfrm>
          <a:prstGeom prst="rect">
            <a:avLst/>
          </a:prstGeom>
          <a:solidFill>
            <a:srgbClr val="005A9E">
              <a:alpha val="60000"/>
            </a:srgbClr>
          </a:solidFill>
          <a:ln w="12700">
            <a:solidFill>
              <a:srgbClr val="00C07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023360"/>
            <a:ext cx="502920" cy="502920"/>
          </a:xfrm>
          <a:prstGeom prst="ellipse">
            <a:avLst/>
          </a:prstGeom>
          <a:solidFill>
            <a:srgbClr val="00C07F"/>
          </a:solidFill>
          <a:ln w="12700">
            <a:solidFill>
              <a:srgbClr val="00C07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05079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51560" y="377647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Acceso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51560" y="4142232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Azure RBAC o Shared Access Signatures (SAS) para control de acceso granular. Habilitar cifrado en reposo (AES-256) y en tránsito (TLS 1.2+).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3703320"/>
            <a:ext cx="4160520" cy="1188720"/>
          </a:xfrm>
          <a:prstGeom prst="rect">
            <a:avLst/>
          </a:prstGeom>
          <a:solidFill>
            <a:srgbClr val="005A9E">
              <a:alpha val="60000"/>
            </a:srgbClr>
          </a:solidFill>
          <a:ln w="12700">
            <a:solidFill>
              <a:srgbClr val="00C07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37760" y="4023360"/>
            <a:ext cx="502920" cy="502920"/>
          </a:xfrm>
          <a:prstGeom prst="ellipse">
            <a:avLst/>
          </a:prstGeom>
          <a:solidFill>
            <a:srgbClr val="00C07F"/>
          </a:solidFill>
          <a:ln w="12700">
            <a:solidFill>
              <a:srgbClr val="00C07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405079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532120" y="377647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SDKs y Herramientas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532120" y="4142232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Azure SDK (.NET, Java, Python, JS/TS), Azure CLI, Azure Storage Explorer o API REST para interactuar con el servicio.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Cobro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2743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8412480" cy="685800"/>
          </a:xfrm>
          <a:prstGeom prst="rect">
            <a:avLst/>
          </a:prstGeom>
          <a:solidFill>
            <a:srgbClr val="D0E8FA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7840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 cobro es PAY-AS-YOU-GO (pago por uso real). Se factura mensualmente con base en 4 dimensiones principales: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1993392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8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737360"/>
            <a:ext cx="1993392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5564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210312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2487168"/>
            <a:ext cx="18288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Hot: ~$0.018/GB/mes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Cool: ~$0.01/GB/mes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Cold: ~$0.004/GB/mes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Archive: ~$0.00099/GB/mes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87168" y="1737360"/>
            <a:ext cx="1993392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7C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87168" y="1737360"/>
            <a:ext cx="1993392" cy="685800"/>
          </a:xfrm>
          <a:prstGeom prst="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87168" y="175564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578608" y="210312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578608" y="2487168"/>
            <a:ext cx="18288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Hot: $0.004 por 10K ops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Cool: $0.01 por 10K ops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Archive: $0.065 por 10K ops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Varía por tipo de operación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08576" y="1737360"/>
            <a:ext cx="1993392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C07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08576" y="1737360"/>
            <a:ext cx="1993392" cy="685800"/>
          </a:xfrm>
          <a:prstGeom prst="rect">
            <a:avLst/>
          </a:prstGeom>
          <a:solidFill>
            <a:srgbClr val="00C07F"/>
          </a:solidFill>
          <a:ln w="12700">
            <a:solidFill>
              <a:srgbClr val="00C07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08576" y="175564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⇥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700016" y="210312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 de datos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700016" y="2487168"/>
            <a:ext cx="18288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Entrada: Gratuita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dentro de región: Gratis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a Internet: $0.08/GB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Primeros 100 GB/mes gratis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729984" y="1737360"/>
            <a:ext cx="1993392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A9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29984" y="1737360"/>
            <a:ext cx="1993392" cy="685800"/>
          </a:xfrm>
          <a:prstGeom prst="rect">
            <a:avLst/>
          </a:prstGeom>
          <a:solidFill>
            <a:srgbClr val="005A9E"/>
          </a:solidFill>
          <a:ln w="12700">
            <a:solidFill>
              <a:srgbClr val="005A9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9984" y="175564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821424" y="210312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especiales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821424" y="2487168"/>
            <a:ext cx="18288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Replicación GRS/GZRS extra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Management incl.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 incluido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y snapshots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5760" y="49103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Precios estimados región East US. Verificar en azure.microsoft.com/pricing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0B0F0"/>
          </a:solidFill>
          <a:ln w="12700">
            <a:solidFill>
              <a:srgbClr val="50B0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y Casos de Uso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27432"/>
          </a:xfrm>
          <a:prstGeom prst="rect">
            <a:avLst/>
          </a:prstGeom>
          <a:solidFill>
            <a:srgbClr val="50B0F0"/>
          </a:solidFill>
          <a:ln w="12700">
            <a:solidFill>
              <a:srgbClr val="50B0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961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Clave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54864" cy="475488"/>
          </a:xfrm>
          <a:prstGeom prst="rect">
            <a:avLst/>
          </a:prstGeom>
          <a:solidFill>
            <a:srgbClr val="50B0F0"/>
          </a:solidFill>
          <a:ln w="12700">
            <a:solidFill>
              <a:srgbClr val="50B0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258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 ilimitada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156362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gestión de capacidad manual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020824"/>
            <a:ext cx="54864" cy="475488"/>
          </a:xfrm>
          <a:prstGeom prst="rect">
            <a:avLst/>
          </a:prstGeom>
          <a:solidFill>
            <a:srgbClr val="50B0F0"/>
          </a:solidFill>
          <a:ln w="12700">
            <a:solidFill>
              <a:srgbClr val="50B0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208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durabilidad: 99.9999999%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22585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(once nueves) con replicación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715768"/>
            <a:ext cx="54864" cy="475488"/>
          </a:xfrm>
          <a:prstGeom prst="rect">
            <a:avLst/>
          </a:prstGeom>
          <a:solidFill>
            <a:srgbClr val="50B0F0"/>
          </a:solidFill>
          <a:ln w="12700">
            <a:solidFill>
              <a:srgbClr val="50B0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7157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integrada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" y="29535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AES-256 + TLS + RBAC + SAS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410712"/>
            <a:ext cx="54864" cy="475488"/>
          </a:xfrm>
          <a:prstGeom prst="rect">
            <a:avLst/>
          </a:prstGeom>
          <a:solidFill>
            <a:srgbClr val="50B0F0"/>
          </a:solidFill>
          <a:ln w="12700">
            <a:solidFill>
              <a:srgbClr val="50B0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4107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Azure nativa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36484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CDN, Functions, ML, Synapse, etc.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4105656"/>
            <a:ext cx="54864" cy="475488"/>
          </a:xfrm>
          <a:prstGeom prst="rect">
            <a:avLst/>
          </a:prstGeom>
          <a:solidFill>
            <a:srgbClr val="50B0F0"/>
          </a:solidFill>
          <a:ln w="12700">
            <a:solidFill>
              <a:srgbClr val="50B0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1056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ciclo de vida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43434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automática entre niveles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0" y="8961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Reales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846320" y="1325880"/>
            <a:ext cx="3931920" cy="594360"/>
          </a:xfrm>
          <a:prstGeom prst="rect">
            <a:avLst/>
          </a:prstGeom>
          <a:solidFill>
            <a:srgbClr val="005A9E">
              <a:alpha val="50000"/>
            </a:srgbClr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1325880"/>
            <a:ext cx="54864" cy="5943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1371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Streaming de Media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83480" y="163677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Netflix, YouTube-like: videos, imágenes, audio.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46320" y="2020824"/>
            <a:ext cx="3931920" cy="594360"/>
          </a:xfrm>
          <a:prstGeom prst="rect">
            <a:avLst/>
          </a:prstGeom>
          <a:solidFill>
            <a:srgbClr val="005A9E">
              <a:alpha val="50000"/>
            </a:srgbClr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2020824"/>
            <a:ext cx="54864" cy="594360"/>
          </a:xfrm>
          <a:prstGeom prst="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20665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Backup y Recuperación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83480" y="233172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de VMs, DBs y archivos empresariales.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2715768"/>
            <a:ext cx="3931920" cy="594360"/>
          </a:xfrm>
          <a:prstGeom prst="rect">
            <a:avLst/>
          </a:prstGeom>
          <a:solidFill>
            <a:srgbClr val="005A9E">
              <a:alpha val="50000"/>
            </a:srgbClr>
          </a:solidFill>
          <a:ln w="12700">
            <a:solidFill>
              <a:srgbClr val="00C07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2715768"/>
            <a:ext cx="54864" cy="594360"/>
          </a:xfrm>
          <a:prstGeom prst="rect">
            <a:avLst/>
          </a:prstGeom>
          <a:solidFill>
            <a:srgbClr val="00C07F"/>
          </a:solidFill>
          <a:ln w="12700">
            <a:solidFill>
              <a:srgbClr val="00C07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27614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Big Data e IA/ML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83480" y="3026664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Lakes para entrenar modelos de ML.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46320" y="3410712"/>
            <a:ext cx="3931920" cy="594360"/>
          </a:xfrm>
          <a:prstGeom prst="rect">
            <a:avLst/>
          </a:prstGeom>
          <a:solidFill>
            <a:srgbClr val="005A9E">
              <a:alpha val="50000"/>
            </a:srgbClr>
          </a:solidFill>
          <a:ln w="12700">
            <a:solidFill>
              <a:srgbClr val="005A9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3410712"/>
            <a:ext cx="54864" cy="594360"/>
          </a:xfrm>
          <a:prstGeom prst="rect">
            <a:avLst/>
          </a:prstGeom>
          <a:solidFill>
            <a:srgbClr val="005A9E"/>
          </a:solidFill>
          <a:ln w="12700">
            <a:solidFill>
              <a:srgbClr val="005A9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34564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Apps Web y Móvil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83480" y="3721608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de perfil, documentos de usuarios.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846320" y="4105656"/>
            <a:ext cx="3931920" cy="594360"/>
          </a:xfrm>
          <a:prstGeom prst="rect">
            <a:avLst/>
          </a:prstGeom>
          <a:solidFill>
            <a:srgbClr val="005A9E">
              <a:alpha val="5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46320" y="4105656"/>
            <a:ext cx="54864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83480" y="4151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Archivado Compliance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983480" y="4416552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 de logs para auditorías y normativas.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457200"/>
            <a:ext cx="2743200" cy="2743200"/>
          </a:xfrm>
          <a:prstGeom prst="ellipse">
            <a:avLst/>
          </a:prstGeom>
          <a:solidFill>
            <a:srgbClr val="0078D4">
              <a:alpha val="20000"/>
            </a:srgbClr>
          </a:solidFill>
          <a:ln w="12700">
            <a:solidFill>
              <a:srgbClr val="00B7C3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27432"/>
          </a:xfrm>
          <a:prstGeom prst="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15568"/>
            <a:ext cx="365760" cy="365760"/>
          </a:xfrm>
          <a:prstGeom prst="ellipse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24712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41248" y="960120"/>
            <a:ext cx="7909560" cy="685800"/>
          </a:xfrm>
          <a:prstGeom prst="rect">
            <a:avLst/>
          </a:prstGeom>
          <a:solidFill>
            <a:srgbClr val="005A9E">
              <a:alpha val="50000"/>
            </a:srgbClr>
          </a:solidFill>
          <a:ln w="12700">
            <a:solidFill>
              <a:srgbClr val="005A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051560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 es el servicio de almacenamiento de objetos más completo y escalable de Azure, ideal para cualquier proyecto en la nube.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1911096"/>
            <a:ext cx="365760" cy="365760"/>
          </a:xfrm>
          <a:prstGeom prst="ellipse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920240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41248" y="1755648"/>
            <a:ext cx="7909560" cy="685800"/>
          </a:xfrm>
          <a:prstGeom prst="rect">
            <a:avLst/>
          </a:prstGeom>
          <a:solidFill>
            <a:srgbClr val="005A9E">
              <a:alpha val="50000"/>
            </a:srgbClr>
          </a:solidFill>
          <a:ln w="12700">
            <a:solidFill>
              <a:srgbClr val="005A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184708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niveles Hot / Cool / Cold / Archive permiten optimizar costos según la frecuencia de acceso a los datos.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2706624"/>
            <a:ext cx="365760" cy="365760"/>
          </a:xfrm>
          <a:prstGeom prst="ellipse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15768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41248" y="2551176"/>
            <a:ext cx="7909560" cy="685800"/>
          </a:xfrm>
          <a:prstGeom prst="rect">
            <a:avLst/>
          </a:prstGeom>
          <a:solidFill>
            <a:srgbClr val="005A9E">
              <a:alpha val="50000"/>
            </a:srgbClr>
          </a:solidFill>
          <a:ln w="12700">
            <a:solidFill>
              <a:srgbClr val="005A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2642616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modelo PAY-AS-YOU-GO garantiza pagar únicamente por lo que se consume, sin inversión inicial en infraestructura.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3502152"/>
            <a:ext cx="365760" cy="365760"/>
          </a:xfrm>
          <a:prstGeom prst="ellipse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511296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41248" y="3346704"/>
            <a:ext cx="7909560" cy="685800"/>
          </a:xfrm>
          <a:prstGeom prst="rect">
            <a:avLst/>
          </a:prstGeom>
          <a:solidFill>
            <a:srgbClr val="005A9E">
              <a:alpha val="50000"/>
            </a:srgbClr>
          </a:solidFill>
          <a:ln w="12700">
            <a:solidFill>
              <a:srgbClr val="005A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3438144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integración nativa con otros servicios Azure (ML, Functions, CDN, Synapse) lo convierte en el backbone del almacenamiento de datos en proyectos modernos.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5760" y="4297680"/>
            <a:ext cx="365760" cy="365760"/>
          </a:xfrm>
          <a:prstGeom prst="ellipse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306824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41248" y="4142232"/>
            <a:ext cx="7909560" cy="685800"/>
          </a:xfrm>
          <a:prstGeom prst="rect">
            <a:avLst/>
          </a:prstGeom>
          <a:solidFill>
            <a:srgbClr val="005A9E">
              <a:alpha val="50000"/>
            </a:srgbClr>
          </a:solidFill>
          <a:ln w="12700">
            <a:solidFill>
              <a:srgbClr val="005A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423367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el punto de vista de ciberseguridad, ofrece cifrado AES-256, RBAC, SAS y políticas de lifecycle para proteger y cumplir normativas de datos.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078D4">
              <a:alpha val="60000"/>
            </a:srgbClr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457200"/>
            <a:ext cx="4572000" cy="4572000"/>
          </a:xfrm>
          <a:prstGeom prst="ellipse">
            <a:avLst/>
          </a:prstGeom>
          <a:solidFill>
            <a:srgbClr val="005A9E">
              <a:alpha val="25000"/>
            </a:srgbClr>
          </a:solidFill>
          <a:ln w="12700">
            <a:solidFill>
              <a:srgbClr val="50B0F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457200"/>
            <a:ext cx="3657600" cy="3657600"/>
          </a:xfrm>
          <a:prstGeom prst="ellipse">
            <a:avLst/>
          </a:prstGeom>
          <a:solidFill>
            <a:srgbClr val="00B7C3">
              <a:alpha val="15000"/>
            </a:srgbClr>
          </a:solidFill>
          <a:ln w="12700">
            <a:solidFill>
              <a:srgbClr val="00B7C3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123444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D0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 — Almacenamiento de Objetos en la Nube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43200" y="3017520"/>
            <a:ext cx="3657600" cy="36576"/>
          </a:xfrm>
          <a:prstGeom prst="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320040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Penagos González   •   zs23013863@estudiantes.uv.mx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0" y="36576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Referencia: docs.microsoft.com/azure/storage/blobs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0" y="4828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de Microsoft Azure   •   Ingeniería de Ciberseguridad   •  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Blob Storage</dc:title>
  <dc:subject>PptxGenJS Presentation</dc:subject>
  <dc:creator>Alan Penagos González</dc:creator>
  <cp:lastModifiedBy>Alan Penagos González</cp:lastModifiedBy>
  <cp:revision>1</cp:revision>
  <dcterms:created xsi:type="dcterms:W3CDTF">2026-04-10T22:39:20Z</dcterms:created>
  <dcterms:modified xsi:type="dcterms:W3CDTF">2026-04-10T22:39:20Z</dcterms:modified>
</cp:coreProperties>
</file>