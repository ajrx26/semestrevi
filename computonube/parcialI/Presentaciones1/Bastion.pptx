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1635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79480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68249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681660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209709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41709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49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667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9067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695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523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8203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405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454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3305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0C1FDA-7007-98A4-3589-79EB934BFC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6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299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3558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664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86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4658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A1628">
            <a:alpha val="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404122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78D4">
              <a:alpha val="49999"/>
            </a:srgbClr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sp>
        <p:nvSpPr>
          <p:cNvPr id="1674791432" name="Shape 1"/>
          <p:cNvSpPr/>
          <p:nvPr/>
        </p:nvSpPr>
        <p:spPr bwMode="auto">
          <a:xfrm>
            <a:off x="109728" y="0"/>
            <a:ext cx="9034272" cy="64008"/>
          </a:xfrm>
          <a:prstGeom prst="rect">
            <a:avLst/>
          </a:prstGeom>
          <a:solidFill>
            <a:srgbClr val="00BCF2">
              <a:alpha val="65000"/>
            </a:srgbClr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39953232" name="Text 3"/>
          <p:cNvSpPr/>
          <p:nvPr/>
        </p:nvSpPr>
        <p:spPr bwMode="auto">
          <a:xfrm flipH="0" flipV="0">
            <a:off x="1067119" y="1210491"/>
            <a:ext cx="45193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0072C6"/>
                </a:solidFill>
                <a:latin typeface="Calibri"/>
                <a:ea typeface="Calibri"/>
                <a:cs typeface="Calibri"/>
              </a:rPr>
              <a:t>Bastion</a:t>
            </a:r>
            <a:endParaRPr lang="en-US" sz="6000"/>
          </a:p>
        </p:txBody>
      </p:sp>
      <p:sp>
        <p:nvSpPr>
          <p:cNvPr id="1467003034" name="Text 4"/>
          <p:cNvSpPr/>
          <p:nvPr/>
        </p:nvSpPr>
        <p:spPr bwMode="auto">
          <a:xfrm>
            <a:off x="1137556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Acceso remoto seguro a máquinas virtuales</a:t>
            </a:r>
            <a:endParaRPr sz="1800" b="1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n-US" sz="1800" b="1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sin exposición de IP pública</a:t>
            </a:r>
            <a:endParaRPr sz="18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00716722" name="Shape 5"/>
          <p:cNvSpPr/>
          <p:nvPr/>
        </p:nvSpPr>
        <p:spPr bwMode="auto">
          <a:xfrm>
            <a:off x="1137556" y="3611880"/>
            <a:ext cx="3657600" cy="36576"/>
          </a:xfrm>
          <a:prstGeom prst="rect">
            <a:avLst/>
          </a:prstGeom>
          <a:solidFill>
            <a:srgbClr val="0078D4">
              <a:alpha val="43999"/>
            </a:srgbClr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pic>
        <p:nvPicPr>
          <p:cNvPr id="8605912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214" y="1140349"/>
            <a:ext cx="2531435" cy="1329003"/>
          </a:xfrm>
          <a:prstGeom prst="rect">
            <a:avLst/>
          </a:prstGeom>
        </p:spPr>
      </p:pic>
      <p:pic>
        <p:nvPicPr>
          <p:cNvPr id="212587476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52121" y="992107"/>
            <a:ext cx="1650652" cy="568320"/>
          </a:xfrm>
          <a:prstGeom prst="rect">
            <a:avLst/>
          </a:prstGeom>
        </p:spPr>
      </p:pic>
      <p:sp>
        <p:nvSpPr>
          <p:cNvPr id="1394982287" name=""/>
          <p:cNvSpPr txBox="1"/>
          <p:nvPr/>
        </p:nvSpPr>
        <p:spPr bwMode="auto">
          <a:xfrm rot="0" flipH="0" flipV="0">
            <a:off x="1128749" y="2428875"/>
            <a:ext cx="40560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1200" b="1">
                <a:solidFill>
                  <a:srgbClr val="0070C0"/>
                </a:solidFill>
              </a:rPr>
              <a:t>Daniel Vargas López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0F4F8">
            <a:alpha val="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24433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72C6">
              <a:alpha val="74000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1147154377" name="Shape 1"/>
          <p:cNvSpPr/>
          <p:nvPr/>
        </p:nvSpPr>
        <p:spPr bwMode="auto">
          <a:xfrm>
            <a:off x="0" y="685800"/>
            <a:ext cx="9144000" cy="45720"/>
          </a:xfrm>
          <a:prstGeom prst="rect">
            <a:avLst/>
          </a:prstGeom>
          <a:solidFill>
            <a:srgbClr val="0078D4">
              <a:alpha val="24999"/>
            </a:srgbClr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sp>
        <p:nvSpPr>
          <p:cNvPr id="1755593825" name="Text 2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es Azure Bastion?</a:t>
            </a:r>
            <a:endParaRPr lang="en-US" sz="2600"/>
          </a:p>
        </p:txBody>
      </p:sp>
      <p:pic>
        <p:nvPicPr>
          <p:cNvPr id="1687521796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4320" y="960120"/>
            <a:ext cx="1188720" cy="1188720"/>
          </a:xfrm>
          <a:prstGeom prst="rect">
            <a:avLst/>
          </a:prstGeom>
        </p:spPr>
      </p:pic>
      <p:sp>
        <p:nvSpPr>
          <p:cNvPr id="1155950945" name="Text 5"/>
          <p:cNvSpPr/>
          <p:nvPr/>
        </p:nvSpPr>
        <p:spPr bwMode="auto">
          <a:xfrm>
            <a:off x="1783080" y="960120"/>
            <a:ext cx="6995160" cy="1280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  <a:defRPr/>
            </a:pPr>
            <a:r>
              <a:rPr lang="es-ES" sz="14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Es un s</a:t>
            </a:r>
            <a:r>
              <a:rPr lang="es-ES" sz="14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ervicio PaaS totalmente administrado que proporciona conectividad RDP/SSH segura a máquinas virtuales de Azure directamente desde el portal, a través de TLS en el puerto 443, sin necesidad de exponer IPs públicas, instalar agentes ni software adicional.</a:t>
            </a:r>
            <a:endParaRPr lang="es-ES" sz="1400"/>
          </a:p>
        </p:txBody>
      </p:sp>
      <p:sp>
        <p:nvSpPr>
          <p:cNvPr id="1444730190" name="Text 13"/>
          <p:cNvSpPr/>
          <p:nvPr/>
        </p:nvSpPr>
        <p:spPr bwMode="auto">
          <a:xfrm>
            <a:off x="1691640" y="2691637"/>
            <a:ext cx="2560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  <a:defRPr/>
            </a:pPr>
            <a:r>
              <a:rPr lang="es-E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Es p</a:t>
            </a:r>
            <a:r>
              <a:rPr lang="es-E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arte del ecosistema Azure junto con Azure Firewall, DDoS Protection y WAF</a:t>
            </a:r>
            <a:r>
              <a:rPr lang="es-E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  <a:endParaRPr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8024575" name="Text 16"/>
          <p:cNvSpPr/>
          <p:nvPr/>
        </p:nvSpPr>
        <p:spPr bwMode="auto">
          <a:xfrm>
            <a:off x="169164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  <a:defRPr/>
            </a:pPr>
            <a:r>
              <a:rPr lang="es-ES" sz="13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Características</a:t>
            </a:r>
            <a:endParaRPr lang="en-US" sz="1300"/>
          </a:p>
        </p:txBody>
      </p:sp>
      <p:sp>
        <p:nvSpPr>
          <p:cNvPr id="235397435" name="Text 17"/>
          <p:cNvSpPr/>
          <p:nvPr/>
        </p:nvSpPr>
        <p:spPr bwMode="auto">
          <a:xfrm>
            <a:off x="1691640" y="3482001"/>
            <a:ext cx="2560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  <a:defRPr/>
            </a:pPr>
            <a:r>
              <a:rPr lang="es-E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</a:rPr>
              <a:t>Conexión vía navegador HTML5 moderno: Chrome, Edge, sin importar el dispositivo</a:t>
            </a:r>
            <a:endParaRPr lang="es-E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chemeClr val="accent5">
            <a:lumMod val="75000"/>
            <a:alpha val="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163505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70C0">
              <a:alpha val="77000"/>
            </a:srgbClr>
          </a:solidFill>
          <a:ln w="12700">
            <a:solidFill>
              <a:srgbClr val="112240">
                <a:alpha val="0"/>
              </a:srgbClr>
            </a:solidFill>
            <a:prstDash val="solid"/>
          </a:ln>
        </p:spPr>
      </p:sp>
      <p:sp>
        <p:nvSpPr>
          <p:cNvPr id="1628267266" name="Text 2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Modelo de Cobro</a:t>
            </a:r>
            <a:endParaRPr lang="en-US" sz="2600"/>
          </a:p>
        </p:txBody>
      </p:sp>
      <p:sp>
        <p:nvSpPr>
          <p:cNvPr id="1644362059" name="Text 3"/>
          <p:cNvSpPr/>
          <p:nvPr/>
        </p:nvSpPr>
        <p:spPr bwMode="auto">
          <a:xfrm>
            <a:off x="3657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Modelo de 2 componentes: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155783592" name="Shape 4"/>
          <p:cNvSpPr/>
          <p:nvPr/>
        </p:nvSpPr>
        <p:spPr bwMode="auto">
          <a:xfrm>
            <a:off x="274320" y="1234440"/>
            <a:ext cx="4023360" cy="1554480"/>
          </a:xfrm>
          <a:prstGeom prst="rect">
            <a:avLst/>
          </a:prstGeom>
          <a:solidFill>
            <a:schemeClr val="tx1">
              <a:alpha val="0"/>
            </a:schemeClr>
          </a:solidFill>
          <a:ln w="19050">
            <a:solidFill>
              <a:srgbClr val="0078D4">
                <a:alpha val="0"/>
              </a:srgbClr>
            </a:solidFill>
            <a:prstDash val="solid"/>
          </a:ln>
        </p:spPr>
      </p:sp>
      <p:sp>
        <p:nvSpPr>
          <p:cNvPr id="1799788438" name="Text 6"/>
          <p:cNvSpPr/>
          <p:nvPr/>
        </p:nvSpPr>
        <p:spPr bwMode="auto">
          <a:xfrm>
            <a:off x="365759" y="13944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 Tarifa por hora (SKU)</a:t>
            </a:r>
            <a:endParaRPr sz="1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18363073" name="Text 7"/>
          <p:cNvSpPr/>
          <p:nvPr/>
        </p:nvSpPr>
        <p:spPr bwMode="auto">
          <a:xfrm>
            <a:off x="411480" y="1920240"/>
            <a:ext cx="3749040" cy="914400"/>
          </a:xfrm>
          <a:prstGeom prst="rect">
            <a:avLst/>
          </a:prstGeom>
          <a:noFill/>
          <a:ln/>
        </p:spPr>
        <p:txBody>
          <a:bodyPr wrap="square" lIns="50799" tIns="50799" rIns="50799" bIns="50799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• Se cobra desde el momento del despliegue</a:t>
            </a:r>
            <a:b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• Independiente del uso real</a:t>
            </a:r>
            <a:b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• Instancias adicionales (escalado) tienen tarifa menor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714473" name="Shape 8"/>
          <p:cNvSpPr/>
          <p:nvPr/>
        </p:nvSpPr>
        <p:spPr bwMode="auto">
          <a:xfrm>
            <a:off x="4572000" y="1234440"/>
            <a:ext cx="4297680" cy="1554480"/>
          </a:xfrm>
          <a:prstGeom prst="rect">
            <a:avLst/>
          </a:prstGeom>
          <a:solidFill>
            <a:schemeClr val="tx1">
              <a:alpha val="0"/>
            </a:schemeClr>
          </a:solidFill>
          <a:ln w="19050">
            <a:solidFill>
              <a:srgbClr val="00BCF2">
                <a:alpha val="0"/>
              </a:srgbClr>
            </a:solidFill>
            <a:prstDash val="solid"/>
          </a:ln>
        </p:spPr>
      </p:sp>
      <p:sp>
        <p:nvSpPr>
          <p:cNvPr id="1665996756" name="Text 10"/>
          <p:cNvSpPr/>
          <p:nvPr/>
        </p:nvSpPr>
        <p:spPr bwMode="auto">
          <a:xfrm>
            <a:off x="4709160" y="13944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ransferencia de datos salientes</a:t>
            </a:r>
            <a:endParaRPr sz="1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7103710" name="Text 11"/>
          <p:cNvSpPr/>
          <p:nvPr/>
        </p:nvSpPr>
        <p:spPr bwMode="auto">
          <a:xfrm>
            <a:off x="4709160" y="1920240"/>
            <a:ext cx="4023360" cy="914400"/>
          </a:xfrm>
          <a:prstGeom prst="rect">
            <a:avLst/>
          </a:prstGeom>
          <a:noFill/>
          <a:ln/>
        </p:spPr>
        <p:txBody>
          <a:bodyPr wrap="square" lIns="50799" tIns="50799" rIns="50799" bIns="50799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• Primeros 5 GB/mes: GRATIS</a:t>
            </a:r>
            <a:b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• Datos entrantes a Bastion: sin costo</a:t>
            </a:r>
            <a:b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• Tarifas escalonadas por mayor volumen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14886230" name="Shape 12"/>
          <p:cNvSpPr/>
          <p:nvPr/>
        </p:nvSpPr>
        <p:spPr bwMode="auto">
          <a:xfrm>
            <a:off x="274320" y="3017518"/>
            <a:ext cx="196596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852267623" name="Shape 13"/>
          <p:cNvSpPr/>
          <p:nvPr/>
        </p:nvSpPr>
        <p:spPr bwMode="auto">
          <a:xfrm flipH="0" flipV="0">
            <a:off x="274319" y="3017518"/>
            <a:ext cx="1965960" cy="347471"/>
          </a:xfrm>
          <a:prstGeom prst="rect">
            <a:avLst/>
          </a:prstGeom>
          <a:solidFill>
            <a:srgbClr val="0072C6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06440410" name="Text 14"/>
          <p:cNvSpPr/>
          <p:nvPr/>
        </p:nvSpPr>
        <p:spPr bwMode="auto">
          <a:xfrm flipH="0" flipV="0">
            <a:off x="274320" y="3017518"/>
            <a:ext cx="1784054" cy="347471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Developer</a:t>
            </a:r>
            <a:endParaRPr lang="en-US" sz="1200"/>
          </a:p>
        </p:txBody>
      </p:sp>
      <p:sp>
        <p:nvSpPr>
          <p:cNvPr id="1708172023" name="Text 15"/>
          <p:cNvSpPr/>
          <p:nvPr/>
        </p:nvSpPr>
        <p:spPr bwMode="auto">
          <a:xfrm>
            <a:off x="274320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GRATIS</a:t>
            </a:r>
            <a:endParaRPr lang="en-US" sz="1600"/>
          </a:p>
        </p:txBody>
      </p:sp>
      <p:sp>
        <p:nvSpPr>
          <p:cNvPr id="1974967780" name="Text 16"/>
          <p:cNvSpPr/>
          <p:nvPr/>
        </p:nvSpPr>
        <p:spPr bwMode="auto">
          <a:xfrm>
            <a:off x="274320" y="3931920"/>
            <a:ext cx="1965960" cy="32004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Para dev/test</a:t>
            </a:r>
            <a:endParaRPr lang="en-US" sz="1000"/>
          </a:p>
        </p:txBody>
      </p:sp>
      <p:sp>
        <p:nvSpPr>
          <p:cNvPr id="1976207097" name="Shape 17"/>
          <p:cNvSpPr/>
          <p:nvPr/>
        </p:nvSpPr>
        <p:spPr bwMode="auto">
          <a:xfrm>
            <a:off x="640080" y="4297680"/>
            <a:ext cx="1234440" cy="274320"/>
          </a:xfrm>
          <a:prstGeom prst="rect">
            <a:avLst/>
          </a:prstGeom>
          <a:solidFill>
            <a:srgbClr val="00599C">
              <a:alpha val="3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94197556" name="Text 18"/>
          <p:cNvSpPr/>
          <p:nvPr/>
        </p:nvSpPr>
        <p:spPr bwMode="auto">
          <a:xfrm flipH="0" flipV="0">
            <a:off x="640080" y="4297680"/>
            <a:ext cx="10331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FREE</a:t>
            </a:r>
            <a:endParaRPr lang="en-US" sz="900"/>
          </a:p>
        </p:txBody>
      </p:sp>
      <p:sp>
        <p:nvSpPr>
          <p:cNvPr id="1953465249" name="Shape 19"/>
          <p:cNvSpPr/>
          <p:nvPr/>
        </p:nvSpPr>
        <p:spPr bwMode="auto">
          <a:xfrm>
            <a:off x="2441448" y="3017518"/>
            <a:ext cx="196596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29601363" name="Shape 20"/>
          <p:cNvSpPr/>
          <p:nvPr/>
        </p:nvSpPr>
        <p:spPr bwMode="auto">
          <a:xfrm>
            <a:off x="2441448" y="3017518"/>
            <a:ext cx="1965960" cy="347471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63723422" name="Text 21"/>
          <p:cNvSpPr/>
          <p:nvPr/>
        </p:nvSpPr>
        <p:spPr bwMode="auto">
          <a:xfrm>
            <a:off x="2441448" y="3017518"/>
            <a:ext cx="196596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Basic</a:t>
            </a:r>
            <a:endParaRPr lang="en-US" sz="1200"/>
          </a:p>
        </p:txBody>
      </p:sp>
      <p:sp>
        <p:nvSpPr>
          <p:cNvPr id="910831395" name="Text 22"/>
          <p:cNvSpPr/>
          <p:nvPr/>
        </p:nvSpPr>
        <p:spPr bwMode="auto">
          <a:xfrm>
            <a:off x="2441448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~$0.19/hr</a:t>
            </a:r>
            <a:endParaRPr lang="en-US" sz="1600"/>
          </a:p>
        </p:txBody>
      </p:sp>
      <p:sp>
        <p:nvSpPr>
          <p:cNvPr id="2059794381" name="Text 23"/>
          <p:cNvSpPr/>
          <p:nvPr/>
        </p:nvSpPr>
        <p:spPr bwMode="auto">
          <a:xfrm>
            <a:off x="2441448" y="3931920"/>
            <a:ext cx="1965960" cy="32004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Capacidad fija</a:t>
            </a:r>
            <a:endParaRPr lang="en-US" sz="1000"/>
          </a:p>
        </p:txBody>
      </p:sp>
      <p:sp>
        <p:nvSpPr>
          <p:cNvPr id="2138567971" name="Shape 24"/>
          <p:cNvSpPr/>
          <p:nvPr/>
        </p:nvSpPr>
        <p:spPr bwMode="auto">
          <a:xfrm>
            <a:off x="2807207" y="4297680"/>
            <a:ext cx="1234440" cy="274320"/>
          </a:xfrm>
          <a:prstGeom prst="rect">
            <a:avLst/>
          </a:prstGeom>
          <a:solidFill>
            <a:srgbClr val="0078D4">
              <a:alpha val="30000"/>
            </a:srgbClr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sp>
        <p:nvSpPr>
          <p:cNvPr id="182494931" name="Text 25"/>
          <p:cNvSpPr/>
          <p:nvPr/>
        </p:nvSpPr>
        <p:spPr bwMode="auto">
          <a:xfrm flipH="0" flipV="0">
            <a:off x="2807208" y="4297680"/>
            <a:ext cx="1115541" cy="2743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</a:t>
            </a:r>
            <a:endParaRPr lang="en-US" sz="900"/>
          </a:p>
        </p:txBody>
      </p:sp>
      <p:sp>
        <p:nvSpPr>
          <p:cNvPr id="2069245466" name="Shape 26"/>
          <p:cNvSpPr/>
          <p:nvPr/>
        </p:nvSpPr>
        <p:spPr bwMode="auto">
          <a:xfrm>
            <a:off x="4608576" y="3017518"/>
            <a:ext cx="196596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63B1"/>
            </a:solidFill>
            <a:prstDash val="solid"/>
          </a:ln>
        </p:spPr>
      </p:sp>
      <p:sp>
        <p:nvSpPr>
          <p:cNvPr id="548811206" name="Shape 27"/>
          <p:cNvSpPr/>
          <p:nvPr/>
        </p:nvSpPr>
        <p:spPr bwMode="auto">
          <a:xfrm>
            <a:off x="4608576" y="3017518"/>
            <a:ext cx="1965960" cy="347471"/>
          </a:xfrm>
          <a:prstGeom prst="rect">
            <a:avLst/>
          </a:prstGeom>
          <a:solidFill>
            <a:srgbClr val="0063B1"/>
          </a:solidFill>
          <a:ln w="12700">
            <a:solidFill>
              <a:srgbClr val="0063B1"/>
            </a:solidFill>
            <a:prstDash val="solid"/>
          </a:ln>
        </p:spPr>
      </p:sp>
      <p:sp>
        <p:nvSpPr>
          <p:cNvPr id="1951555324" name="Text 28"/>
          <p:cNvSpPr/>
          <p:nvPr/>
        </p:nvSpPr>
        <p:spPr bwMode="auto">
          <a:xfrm>
            <a:off x="4608576" y="3017518"/>
            <a:ext cx="196596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</a:t>
            </a:r>
            <a:endParaRPr lang="en-US" sz="1200"/>
          </a:p>
        </p:txBody>
      </p:sp>
      <p:sp>
        <p:nvSpPr>
          <p:cNvPr id="1056791103" name="Text 29"/>
          <p:cNvSpPr/>
          <p:nvPr/>
        </p:nvSpPr>
        <p:spPr bwMode="auto">
          <a:xfrm>
            <a:off x="4608576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~$0.35/hr</a:t>
            </a:r>
            <a:endParaRPr lang="en-US" sz="1600"/>
          </a:p>
        </p:txBody>
      </p:sp>
      <p:sp>
        <p:nvSpPr>
          <p:cNvPr id="1925202529" name="Text 30"/>
          <p:cNvSpPr/>
          <p:nvPr/>
        </p:nvSpPr>
        <p:spPr bwMode="auto">
          <a:xfrm>
            <a:off x="4608576" y="3931920"/>
            <a:ext cx="1965960" cy="32004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+ escalado</a:t>
            </a:r>
            <a:endParaRPr lang="en-US" sz="1000"/>
          </a:p>
        </p:txBody>
      </p:sp>
      <p:sp>
        <p:nvSpPr>
          <p:cNvPr id="2118464019" name="Shape 31"/>
          <p:cNvSpPr/>
          <p:nvPr/>
        </p:nvSpPr>
        <p:spPr bwMode="auto">
          <a:xfrm>
            <a:off x="4974335" y="4297680"/>
            <a:ext cx="1234440" cy="274320"/>
          </a:xfrm>
          <a:prstGeom prst="rect">
            <a:avLst/>
          </a:prstGeom>
          <a:solidFill>
            <a:srgbClr val="0063B1">
              <a:alpha val="30000"/>
            </a:srgbClr>
          </a:solidFill>
          <a:ln w="12700">
            <a:solidFill>
              <a:srgbClr val="0063B1">
                <a:alpha val="0"/>
              </a:srgbClr>
            </a:solidFill>
            <a:prstDash val="solid"/>
          </a:ln>
        </p:spPr>
      </p:sp>
      <p:sp>
        <p:nvSpPr>
          <p:cNvPr id="1153816363" name="Text 32"/>
          <p:cNvSpPr/>
          <p:nvPr/>
        </p:nvSpPr>
        <p:spPr bwMode="auto">
          <a:xfrm flipH="0" flipV="0">
            <a:off x="4974335" y="4297680"/>
            <a:ext cx="1107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</a:t>
            </a:r>
            <a:endParaRPr lang="en-US" sz="900"/>
          </a:p>
        </p:txBody>
      </p:sp>
      <p:sp>
        <p:nvSpPr>
          <p:cNvPr id="429408548" name="Shape 33"/>
          <p:cNvSpPr/>
          <p:nvPr/>
        </p:nvSpPr>
        <p:spPr bwMode="auto">
          <a:xfrm>
            <a:off x="6775704" y="3017518"/>
            <a:ext cx="1965960" cy="17830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3A7A"/>
            </a:solidFill>
            <a:prstDash val="solid"/>
          </a:ln>
        </p:spPr>
      </p:sp>
      <p:sp>
        <p:nvSpPr>
          <p:cNvPr id="1378540764" name="Shape 34"/>
          <p:cNvSpPr/>
          <p:nvPr/>
        </p:nvSpPr>
        <p:spPr bwMode="auto">
          <a:xfrm>
            <a:off x="6775704" y="3017518"/>
            <a:ext cx="1965960" cy="347471"/>
          </a:xfrm>
          <a:prstGeom prst="rect">
            <a:avLst/>
          </a:prstGeom>
          <a:solidFill>
            <a:srgbClr val="003A7A"/>
          </a:solidFill>
          <a:ln w="12700">
            <a:solidFill>
              <a:srgbClr val="003A7A"/>
            </a:solidFill>
            <a:prstDash val="solid"/>
          </a:ln>
        </p:spPr>
      </p:sp>
      <p:sp>
        <p:nvSpPr>
          <p:cNvPr id="569778911" name="Text 35"/>
          <p:cNvSpPr/>
          <p:nvPr/>
        </p:nvSpPr>
        <p:spPr bwMode="auto">
          <a:xfrm>
            <a:off x="6775704" y="3017518"/>
            <a:ext cx="196596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Premium</a:t>
            </a:r>
            <a:endParaRPr lang="en-US" sz="1200"/>
          </a:p>
        </p:txBody>
      </p:sp>
      <p:sp>
        <p:nvSpPr>
          <p:cNvPr id="1679837152" name="Text 36"/>
          <p:cNvSpPr/>
          <p:nvPr/>
        </p:nvSpPr>
        <p:spPr bwMode="auto">
          <a:xfrm>
            <a:off x="6775704" y="3429000"/>
            <a:ext cx="1965960" cy="50292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&gt; Standard</a:t>
            </a:r>
            <a:endParaRPr lang="en-US" sz="1600"/>
          </a:p>
        </p:txBody>
      </p:sp>
      <p:sp>
        <p:nvSpPr>
          <p:cNvPr id="529731876" name="Text 37"/>
          <p:cNvSpPr/>
          <p:nvPr/>
        </p:nvSpPr>
        <p:spPr bwMode="auto">
          <a:xfrm>
            <a:off x="6775704" y="3931920"/>
            <a:ext cx="1965960" cy="32004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Alta seguridad</a:t>
            </a:r>
            <a:endParaRPr lang="en-US" sz="1000"/>
          </a:p>
        </p:txBody>
      </p:sp>
      <p:sp>
        <p:nvSpPr>
          <p:cNvPr id="941892817" name="Shape 38"/>
          <p:cNvSpPr/>
          <p:nvPr/>
        </p:nvSpPr>
        <p:spPr bwMode="auto">
          <a:xfrm>
            <a:off x="7141464" y="4297680"/>
            <a:ext cx="1234440" cy="274320"/>
          </a:xfrm>
          <a:prstGeom prst="rect">
            <a:avLst/>
          </a:prstGeom>
          <a:solidFill>
            <a:srgbClr val="003A7A">
              <a:alpha val="30000"/>
            </a:srgbClr>
          </a:solidFill>
          <a:ln w="12700">
            <a:solidFill>
              <a:srgbClr val="003A7A">
                <a:alpha val="0"/>
              </a:srgbClr>
            </a:solidFill>
            <a:prstDash val="solid"/>
          </a:ln>
        </p:spPr>
      </p:sp>
      <p:sp>
        <p:nvSpPr>
          <p:cNvPr id="1637503111" name="Text 39"/>
          <p:cNvSpPr/>
          <p:nvPr/>
        </p:nvSpPr>
        <p:spPr bwMode="auto">
          <a:xfrm>
            <a:off x="7141464" y="4297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ENTERPRISE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A1628">
            <a:alpha val="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514759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095154999" name="Shape 1"/>
          <p:cNvSpPr/>
          <p:nvPr/>
        </p:nvSpPr>
        <p:spPr bwMode="auto">
          <a:xfrm>
            <a:off x="0" y="685800"/>
            <a:ext cx="9144000" cy="45720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1758002465" name="Text 2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funciona?</a:t>
            </a:r>
            <a:endParaRPr lang="en-US" sz="2600"/>
          </a:p>
        </p:txBody>
      </p:sp>
      <p:sp>
        <p:nvSpPr>
          <p:cNvPr id="1209346763" name="Shape 3"/>
          <p:cNvSpPr/>
          <p:nvPr/>
        </p:nvSpPr>
        <p:spPr bwMode="auto">
          <a:xfrm>
            <a:off x="182880" y="1005840"/>
            <a:ext cx="1645920" cy="9144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CF2"/>
            </a:solidFill>
            <a:prstDash val="solid"/>
          </a:ln>
        </p:spPr>
      </p:sp>
      <p:sp>
        <p:nvSpPr>
          <p:cNvPr id="1304086210" name="Text 4"/>
          <p:cNvSpPr/>
          <p:nvPr/>
        </p:nvSpPr>
        <p:spPr bwMode="auto">
          <a:xfrm>
            <a:off x="182880" y="1005840"/>
            <a:ext cx="16459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👤 Usuario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Navegador Web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(HTML5/TLS)</a:t>
            </a:r>
            <a:endParaRPr lang="en-US" sz="1000"/>
          </a:p>
        </p:txBody>
      </p:sp>
      <p:sp>
        <p:nvSpPr>
          <p:cNvPr id="1349785243" name="Shape 5"/>
          <p:cNvSpPr/>
          <p:nvPr/>
        </p:nvSpPr>
        <p:spPr bwMode="auto">
          <a:xfrm>
            <a:off x="1874520" y="1463040"/>
            <a:ext cx="731520" cy="0"/>
          </a:xfrm>
          <a:prstGeom prst="line">
            <a:avLst/>
          </a:prstGeom>
          <a:noFill/>
          <a:ln w="25400">
            <a:solidFill>
              <a:srgbClr val="00BCF2"/>
            </a:solidFill>
            <a:prstDash val="solid"/>
          </a:ln>
        </p:spPr>
      </p:sp>
      <p:sp>
        <p:nvSpPr>
          <p:cNvPr id="89693252" name="Text 6"/>
          <p:cNvSpPr/>
          <p:nvPr/>
        </p:nvSpPr>
        <p:spPr bwMode="auto">
          <a:xfrm>
            <a:off x="18288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HTTPS</a:t>
            </a:r>
            <a:endParaRPr sz="800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lang="en-US" sz="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Port 443</a:t>
            </a:r>
            <a:endParaRPr sz="800">
              <a:solidFill>
                <a:schemeClr val="tx1"/>
              </a:solidFill>
            </a:endParaRPr>
          </a:p>
        </p:txBody>
      </p:sp>
      <p:sp>
        <p:nvSpPr>
          <p:cNvPr id="1475720694" name="Shape 7"/>
          <p:cNvSpPr/>
          <p:nvPr/>
        </p:nvSpPr>
        <p:spPr bwMode="auto">
          <a:xfrm>
            <a:off x="2651760" y="1005840"/>
            <a:ext cx="173736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50A8E8"/>
            </a:solidFill>
            <a:prstDash val="solid"/>
          </a:ln>
        </p:spPr>
      </p:sp>
      <p:sp>
        <p:nvSpPr>
          <p:cNvPr id="520526032" name="Text 8"/>
          <p:cNvSpPr/>
          <p:nvPr/>
        </p:nvSpPr>
        <p:spPr bwMode="auto">
          <a:xfrm>
            <a:off x="2651760" y="1005840"/>
            <a:ext cx="173736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Azure Portal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☁️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TLS Endpoint</a:t>
            </a:r>
            <a:endParaRPr lang="en-US" sz="1000"/>
          </a:p>
        </p:txBody>
      </p:sp>
      <p:sp>
        <p:nvSpPr>
          <p:cNvPr id="372182553" name="Shape 9"/>
          <p:cNvSpPr/>
          <p:nvPr/>
        </p:nvSpPr>
        <p:spPr bwMode="auto">
          <a:xfrm>
            <a:off x="4434840" y="1463040"/>
            <a:ext cx="731520" cy="0"/>
          </a:xfrm>
          <a:prstGeom prst="line">
            <a:avLst/>
          </a:prstGeom>
          <a:noFill/>
          <a:ln w="25400">
            <a:solidFill>
              <a:srgbClr val="00599C"/>
            </a:solidFill>
            <a:prstDash val="solid"/>
          </a:ln>
        </p:spPr>
      </p:sp>
      <p:sp>
        <p:nvSpPr>
          <p:cNvPr id="1568661250" name="Text 10"/>
          <p:cNvSpPr/>
          <p:nvPr/>
        </p:nvSpPr>
        <p:spPr bwMode="auto">
          <a:xfrm>
            <a:off x="4434840" y="1188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TLS</a:t>
            </a:r>
            <a:endParaRPr sz="800">
              <a:solidFill>
                <a:schemeClr val="tx1"/>
              </a:solidFill>
            </a:endParaRPr>
          </a:p>
        </p:txBody>
      </p:sp>
      <p:sp>
        <p:nvSpPr>
          <p:cNvPr id="1270900844" name="Shape 11"/>
          <p:cNvSpPr/>
          <p:nvPr/>
        </p:nvSpPr>
        <p:spPr bwMode="auto">
          <a:xfrm>
            <a:off x="5212080" y="777240"/>
            <a:ext cx="3566160" cy="3200400"/>
          </a:xfrm>
          <a:prstGeom prst="rect">
            <a:avLst/>
          </a:prstGeom>
          <a:solidFill>
            <a:srgbClr val="0D1F3C">
              <a:alpha val="38999"/>
            </a:srgbClr>
          </a:solidFill>
          <a:ln w="1905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39774312" name="Text 12"/>
          <p:cNvSpPr/>
          <p:nvPr/>
        </p:nvSpPr>
        <p:spPr bwMode="auto">
          <a:xfrm>
            <a:off x="5303520" y="822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Azure Virtual Network</a:t>
            </a:r>
            <a:endParaRPr sz="900">
              <a:solidFill>
                <a:schemeClr val="bg1"/>
              </a:solidFill>
            </a:endParaRPr>
          </a:p>
        </p:txBody>
      </p:sp>
      <p:sp>
        <p:nvSpPr>
          <p:cNvPr id="519161324" name="Shape 13"/>
          <p:cNvSpPr/>
          <p:nvPr/>
        </p:nvSpPr>
        <p:spPr bwMode="auto">
          <a:xfrm>
            <a:off x="5349240" y="1143000"/>
            <a:ext cx="1463040" cy="2468880"/>
          </a:xfrm>
          <a:prstGeom prst="rect">
            <a:avLst/>
          </a:prstGeom>
          <a:solidFill>
            <a:srgbClr val="163A6B"/>
          </a:solidFill>
          <a:ln w="12700">
            <a:solidFill>
              <a:srgbClr val="50A8E8"/>
            </a:solidFill>
            <a:prstDash val="solid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70256708" name="Text 14"/>
          <p:cNvSpPr/>
          <p:nvPr/>
        </p:nvSpPr>
        <p:spPr bwMode="auto">
          <a:xfrm>
            <a:off x="534924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s-ES" sz="800">
                <a:solidFill>
                  <a:srgbClr val="50A8E8"/>
                </a:solidFill>
                <a:latin typeface="Calibri"/>
                <a:ea typeface="Calibri"/>
                <a:cs typeface="Calibri"/>
              </a:rPr>
              <a:t>AZURE BASTION</a:t>
            </a:r>
            <a:endParaRPr lang="es-ES" sz="800">
              <a:solidFill>
                <a:srgbClr val="50A8E8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s-ES" sz="800">
                <a:solidFill>
                  <a:srgbClr val="50A8E8"/>
                </a:solidFill>
                <a:latin typeface="Calibri"/>
                <a:ea typeface="Calibri"/>
                <a:cs typeface="Calibri"/>
              </a:rPr>
              <a:t>Subnet de la red virtual</a:t>
            </a:r>
            <a:endParaRPr lang="en-US" sz="800"/>
          </a:p>
        </p:txBody>
      </p:sp>
      <p:sp>
        <p:nvSpPr>
          <p:cNvPr id="2063821813" name="Shape 15"/>
          <p:cNvSpPr/>
          <p:nvPr/>
        </p:nvSpPr>
        <p:spPr bwMode="auto">
          <a:xfrm>
            <a:off x="5440680" y="1691640"/>
            <a:ext cx="1280160" cy="731520"/>
          </a:xfrm>
          <a:prstGeom prst="rect">
            <a:avLst/>
          </a:prstGeom>
          <a:solidFill>
            <a:srgbClr val="0078D4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7059406" name="Text 16"/>
          <p:cNvSpPr/>
          <p:nvPr/>
        </p:nvSpPr>
        <p:spPr bwMode="auto">
          <a:xfrm>
            <a:off x="5440680" y="1691640"/>
            <a:ext cx="12801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Bastion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</a:t>
            </a:r>
            <a:endParaRPr lang="en-US" sz="1000"/>
          </a:p>
        </p:txBody>
      </p:sp>
      <p:sp>
        <p:nvSpPr>
          <p:cNvPr id="807624400" name="Shape 17"/>
          <p:cNvSpPr/>
          <p:nvPr/>
        </p:nvSpPr>
        <p:spPr bwMode="auto">
          <a:xfrm>
            <a:off x="6995160" y="1143000"/>
            <a:ext cx="1554480" cy="2468880"/>
          </a:xfrm>
          <a:prstGeom prst="rect">
            <a:avLst/>
          </a:prstGeom>
          <a:solidFill>
            <a:srgbClr val="0D2B4E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08388690" name="Text 18"/>
          <p:cNvSpPr/>
          <p:nvPr/>
        </p:nvSpPr>
        <p:spPr bwMode="auto">
          <a:xfrm>
            <a:off x="699516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Subnet VMs</a:t>
            </a:r>
            <a:endParaRPr sz="800">
              <a:solidFill>
                <a:schemeClr val="bg1"/>
              </a:solidFill>
            </a:endParaRPr>
          </a:p>
          <a:p>
            <a:pPr marL="0" indent="0" algn="ctr">
              <a:buNone/>
              <a:defRPr/>
            </a:pP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(IP Privada)</a:t>
            </a:r>
            <a:endParaRPr sz="800">
              <a:solidFill>
                <a:schemeClr val="bg1"/>
              </a:solidFill>
            </a:endParaRPr>
          </a:p>
        </p:txBody>
      </p:sp>
      <p:sp>
        <p:nvSpPr>
          <p:cNvPr id="477921651" name="Shape 19"/>
          <p:cNvSpPr/>
          <p:nvPr/>
        </p:nvSpPr>
        <p:spPr bwMode="auto">
          <a:xfrm>
            <a:off x="7086600" y="1627632"/>
            <a:ext cx="1371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50A8E8"/>
            </a:solidFill>
            <a:prstDash val="solid"/>
          </a:ln>
        </p:spPr>
      </p:sp>
      <p:sp>
        <p:nvSpPr>
          <p:cNvPr id="1826145907" name="Text 20"/>
          <p:cNvSpPr/>
          <p:nvPr/>
        </p:nvSpPr>
        <p:spPr bwMode="auto">
          <a:xfrm>
            <a:off x="7086600" y="162763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VM Windows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(IP Privada)</a:t>
            </a:r>
            <a:endParaRPr lang="en-US" sz="900"/>
          </a:p>
        </p:txBody>
      </p:sp>
      <p:sp>
        <p:nvSpPr>
          <p:cNvPr id="1213892247" name="Shape 21"/>
          <p:cNvSpPr/>
          <p:nvPr/>
        </p:nvSpPr>
        <p:spPr bwMode="auto">
          <a:xfrm>
            <a:off x="7086600" y="2331720"/>
            <a:ext cx="1371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50A8E8"/>
            </a:solidFill>
            <a:prstDash val="solid"/>
          </a:ln>
        </p:spPr>
      </p:sp>
      <p:sp>
        <p:nvSpPr>
          <p:cNvPr id="492829389" name="Text 22"/>
          <p:cNvSpPr/>
          <p:nvPr/>
        </p:nvSpPr>
        <p:spPr bwMode="auto">
          <a:xfrm>
            <a:off x="708660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VM Linux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🐧 (IP Privada)</a:t>
            </a:r>
            <a:endParaRPr lang="en-US" sz="900"/>
          </a:p>
        </p:txBody>
      </p:sp>
      <p:sp>
        <p:nvSpPr>
          <p:cNvPr id="1002298689" name="Shape 23"/>
          <p:cNvSpPr/>
          <p:nvPr/>
        </p:nvSpPr>
        <p:spPr bwMode="auto">
          <a:xfrm>
            <a:off x="6720840" y="2057400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791611489" name="Shape 24"/>
          <p:cNvSpPr/>
          <p:nvPr/>
        </p:nvSpPr>
        <p:spPr bwMode="auto">
          <a:xfrm>
            <a:off x="6720840" y="2624328"/>
            <a:ext cx="365760" cy="0"/>
          </a:xfrm>
          <a:prstGeom prst="line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1861251064" name="Text 25"/>
          <p:cNvSpPr/>
          <p:nvPr/>
        </p:nvSpPr>
        <p:spPr bwMode="auto">
          <a:xfrm>
            <a:off x="6492240" y="2103119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chemeClr val="bg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</a:rPr>
              <a:t>RDP/SSH</a:t>
            </a:r>
            <a:endParaRPr sz="700" b="1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 algn="ctr">
              <a:buNone/>
              <a:defRPr/>
            </a:pPr>
            <a:r>
              <a:rPr lang="en-US" sz="700" b="1">
                <a:solidFill>
                  <a:schemeClr val="bg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</a:rPr>
              <a:t>IP Privada</a:t>
            </a:r>
            <a:endParaRPr sz="700" b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151794142" name="Text 27"/>
          <p:cNvSpPr/>
          <p:nvPr/>
        </p:nvSpPr>
        <p:spPr bwMode="auto">
          <a:xfrm>
            <a:off x="186145" y="236818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Las VMs NO necesitan IP pública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1401254821" name="Text 29"/>
          <p:cNvSpPr/>
          <p:nvPr/>
        </p:nvSpPr>
        <p:spPr bwMode="auto">
          <a:xfrm>
            <a:off x="186145" y="264250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Conexión cifrada con TLS en puerto 443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1442744132" name="Text 31"/>
          <p:cNvSpPr/>
          <p:nvPr/>
        </p:nvSpPr>
        <p:spPr bwMode="auto">
          <a:xfrm>
            <a:off x="186145" y="291682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Sin agente en la VM, sin software extra</a:t>
            </a:r>
            <a:endParaRPr sz="11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0F4F8">
            <a:alpha val="2600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272699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72C6">
              <a:alpha val="99999"/>
            </a:srgbClr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</p:sp>
      <p:sp>
        <p:nvSpPr>
          <p:cNvPr id="244305060" name="Shape 1"/>
          <p:cNvSpPr/>
          <p:nvPr/>
        </p:nvSpPr>
        <p:spPr bwMode="auto">
          <a:xfrm>
            <a:off x="0" y="685800"/>
            <a:ext cx="914400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41550880" name="Text 2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Beneficios y Casos de Uso</a:t>
            </a:r>
            <a:endParaRPr lang="en-US" sz="2600"/>
          </a:p>
        </p:txBody>
      </p:sp>
      <p:sp>
        <p:nvSpPr>
          <p:cNvPr id="722905653" name="Text 5"/>
          <p:cNvSpPr/>
          <p:nvPr/>
        </p:nvSpPr>
        <p:spPr bwMode="auto">
          <a:xfrm>
            <a:off x="427536" y="1020444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Sin IP pública en las VMs</a:t>
            </a:r>
            <a:endParaRPr lang="en-US" sz="1200"/>
          </a:p>
        </p:txBody>
      </p:sp>
      <p:sp>
        <p:nvSpPr>
          <p:cNvPr id="1082319520" name="Text 6"/>
          <p:cNvSpPr/>
          <p:nvPr/>
        </p:nvSpPr>
        <p:spPr bwMode="auto">
          <a:xfrm>
            <a:off x="427536" y="1226184"/>
            <a:ext cx="3246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Las VMs permanecen invisibles en Internet, eliminando vectores de ataque directos.</a:t>
            </a:r>
            <a:endParaRPr lang="es-ES" sz="1100"/>
          </a:p>
        </p:txBody>
      </p:sp>
      <p:sp>
        <p:nvSpPr>
          <p:cNvPr id="435635575" name="Text 9"/>
          <p:cNvSpPr/>
          <p:nvPr/>
        </p:nvSpPr>
        <p:spPr bwMode="auto">
          <a:xfrm>
            <a:off x="365759" y="2402059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12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Protección contra escaneo de puertos</a:t>
            </a:r>
            <a:endParaRPr lang="es-ES" sz="1200"/>
          </a:p>
        </p:txBody>
      </p:sp>
      <p:sp>
        <p:nvSpPr>
          <p:cNvPr id="1663864572" name="Text 10"/>
          <p:cNvSpPr/>
          <p:nvPr/>
        </p:nvSpPr>
        <p:spPr bwMode="auto">
          <a:xfrm>
            <a:off x="365759" y="2607799"/>
            <a:ext cx="3246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RDP (3389) y SSH (22) nunca se exponen al exterior. Zero exposure.</a:t>
            </a:r>
            <a:endParaRPr lang="es-ES" sz="1100"/>
          </a:p>
        </p:txBody>
      </p:sp>
      <p:sp>
        <p:nvSpPr>
          <p:cNvPr id="1399144837" name="Text 17"/>
          <p:cNvSpPr/>
          <p:nvPr/>
        </p:nvSpPr>
        <p:spPr bwMode="auto">
          <a:xfrm>
            <a:off x="365759" y="3857529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12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Servicio 100% administrado (PaaS)</a:t>
            </a:r>
            <a:endParaRPr lang="es-ES" sz="1200"/>
          </a:p>
        </p:txBody>
      </p:sp>
      <p:sp>
        <p:nvSpPr>
          <p:cNvPr id="231827326" name="Text 18"/>
          <p:cNvSpPr/>
          <p:nvPr/>
        </p:nvSpPr>
        <p:spPr bwMode="auto">
          <a:xfrm>
            <a:off x="365759" y="4063269"/>
            <a:ext cx="32461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Microsoft mantiene el hardening, actualizaciones y disponibilidad. Sin overhead operativo.</a:t>
            </a:r>
            <a:endParaRPr lang="es-ES" sz="1100"/>
          </a:p>
        </p:txBody>
      </p:sp>
      <p:sp>
        <p:nvSpPr>
          <p:cNvPr id="29471981" name="Text 20"/>
          <p:cNvSpPr/>
          <p:nvPr/>
        </p:nvSpPr>
        <p:spPr bwMode="auto">
          <a:xfrm flipH="0" flipV="0">
            <a:off x="4983480" y="1226184"/>
            <a:ext cx="40786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s-ES" sz="1100" b="1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CASOS DE USO TÍPICOS</a:t>
            </a:r>
            <a:endParaRPr lang="es-ES" sz="11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61104017" name="Text 22"/>
          <p:cNvSpPr/>
          <p:nvPr/>
        </p:nvSpPr>
        <p:spPr bwMode="auto">
          <a:xfrm>
            <a:off x="5513831" y="1546224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Empresas con</a:t>
            </a:r>
            <a:endParaRPr lang="es-ES" sz="950"/>
          </a:p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política Zero Trust</a:t>
            </a:r>
            <a:endParaRPr lang="es-ES" sz="950"/>
          </a:p>
        </p:txBody>
      </p:sp>
      <p:sp>
        <p:nvSpPr>
          <p:cNvPr id="2144903191" name="Text 24"/>
          <p:cNvSpPr/>
          <p:nvPr/>
        </p:nvSpPr>
        <p:spPr bwMode="auto">
          <a:xfrm>
            <a:off x="7123176" y="1597387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Admins remotos</a:t>
            </a:r>
            <a:endParaRPr lang="es-ES" sz="950"/>
          </a:p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sin VPN</a:t>
            </a:r>
            <a:endParaRPr lang="es-ES" sz="950"/>
          </a:p>
        </p:txBody>
      </p:sp>
      <p:sp>
        <p:nvSpPr>
          <p:cNvPr id="232910485" name="Text 26"/>
          <p:cNvSpPr/>
          <p:nvPr/>
        </p:nvSpPr>
        <p:spPr bwMode="auto">
          <a:xfrm>
            <a:off x="5861304" y="2231135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Dev/Test de</a:t>
            </a:r>
            <a:endParaRPr lang="es-ES" sz="950"/>
          </a:p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ambientes cloud</a:t>
            </a:r>
            <a:endParaRPr lang="es-ES" sz="950"/>
          </a:p>
        </p:txBody>
      </p:sp>
      <p:sp>
        <p:nvSpPr>
          <p:cNvPr id="1496084108" name="Text 28"/>
          <p:cNvSpPr/>
          <p:nvPr/>
        </p:nvSpPr>
        <p:spPr bwMode="auto">
          <a:xfrm>
            <a:off x="7123176" y="2427731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Migración de</a:t>
            </a:r>
            <a:endParaRPr lang="es-ES" sz="950"/>
          </a:p>
          <a:p>
            <a:pPr marL="0" indent="0">
              <a:buNone/>
              <a:defRPr/>
            </a:pPr>
            <a:r>
              <a:rPr lang="es-ES" sz="95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infra on-premise</a:t>
            </a:r>
            <a:endParaRPr lang="es-E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ONLYOFFICE/9.0.0.172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Bastion</dc:title>
  <dc:subject>PptxGenJS Presentation</dc:subject>
  <dc:creator>PptxGenJS</dc:creator>
  <cp:lastModifiedBy/>
  <cp:revision>2</cp:revision>
  <dcterms:created xsi:type="dcterms:W3CDTF">2026-04-15T22:47:55Z</dcterms:created>
  <dcterms:modified xsi:type="dcterms:W3CDTF">2026-04-17T05:39:35Z</dcterms:modified>
</cp:coreProperties>
</file>