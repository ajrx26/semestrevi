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  <p:sldMasterId id="2147483870" r:id="rId2"/>
  </p:sldMasterIdLst>
  <p:sldIdLst>
    <p:sldId id="256" r:id="rId3"/>
    <p:sldId id="257" r:id="rId4"/>
    <p:sldId id="258" r:id="rId5"/>
    <p:sldId id="262" r:id="rId6"/>
    <p:sldId id="263" r:id="rId7"/>
    <p:sldId id="259" r:id="rId8"/>
    <p:sldId id="264" r:id="rId9"/>
    <p:sldId id="269" r:id="rId10"/>
    <p:sldId id="2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240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927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726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81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946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284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512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4752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737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023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763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741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7982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0086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638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5658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9199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0156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793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5453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0226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969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4976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9274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87409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6779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57852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3073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4129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81301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39086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9619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924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553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7382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7DE0B2-76D5-4490-8BE9-7F920A44864A}" type="datetimeFigureOut">
              <a:rPr lang="es-MX" smtClean="0"/>
              <a:t>15/04/2026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BD6CB-8D33-401E-96AA-C3774E3084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256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azure.microsoft.com/en-us/pricing/details/key-vault" TargetMode="External"/><Relationship Id="rId5" Type="http://schemas.openxmlformats.org/officeDocument/2006/relationships/hyperlink" Target="https://learn.microsoft.com/es-es/azure/key-vault/general/overview" TargetMode="External"/><Relationship Id="rId4" Type="http://schemas.openxmlformats.org/officeDocument/2006/relationships/hyperlink" Target="https://portal.azure.com-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CB43B-336F-5B9F-A480-95D91CC3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800" y="1117765"/>
            <a:ext cx="9388439" cy="9593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algn="l"/>
            <a:r>
              <a:rPr lang="es-MX" b="1" cap="none" dirty="0" smtClean="0">
                <a:ln w="6600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  <a:t>AZURE KEY VAULTS</a:t>
            </a:r>
            <a:endParaRPr lang="es-MX" b="1" cap="none" dirty="0">
              <a:ln w="6600">
                <a:solidFill>
                  <a:schemeClr val="accent2">
                    <a:lumMod val="50000"/>
                  </a:schemeClr>
                </a:solidFill>
                <a:prstDash val="solid"/>
              </a:ln>
              <a:solidFill>
                <a:schemeClr val="accent5">
                  <a:lumMod val="20000"/>
                  <a:lumOff val="80000"/>
                </a:schemeClr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9EE8E-1A29-1A09-C91F-2C0CA5DE7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801" y="4921956"/>
            <a:ext cx="3985578" cy="1286933"/>
          </a:xfrm>
          <a:solidFill>
            <a:schemeClr val="bg2">
              <a:lumMod val="75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l">
              <a:spcBef>
                <a:spcPts val="600"/>
              </a:spcBef>
            </a:pPr>
            <a:r>
              <a:rPr lang="es-MX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Javier </a:t>
            </a:r>
            <a:r>
              <a:rPr lang="es-MX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Patiño </a:t>
            </a:r>
            <a:r>
              <a:rPr lang="es-MX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González</a:t>
            </a:r>
          </a:p>
          <a:p>
            <a:pPr algn="l"/>
            <a:r>
              <a:rPr lang="es-MX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Computación en la nube</a:t>
            </a:r>
            <a:endParaRPr lang="es-MX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 descr="Precios : Key Vault | Microsoft Azure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893" y="2336886"/>
            <a:ext cx="3666263" cy="36601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25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69"/>
            <a:ext cx="9905998" cy="264757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es un Key </a:t>
            </a:r>
            <a:r>
              <a:rPr lang="es-MX" sz="4000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Vault</a:t>
            </a: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>
              <a:buNone/>
            </a:pPr>
            <a:r>
              <a:rPr lang="es-MX" sz="28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También conocidos como </a:t>
            </a:r>
            <a:r>
              <a:rPr lang="es-MX" sz="2800" u="sng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Almacenes de Claves</a:t>
            </a:r>
            <a:r>
              <a:rPr lang="es-MX" sz="28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grandes rasgos, es una solución SaaS (</a:t>
            </a:r>
            <a:r>
              <a:rPr lang="es-MX" sz="2800" cap="none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s-MX" sz="28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Software) utilizada para la administración de Claves </a:t>
            </a:r>
            <a:r>
              <a:rPr lang="es-MX" sz="28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s-MX" sz="28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riptográficas en </a:t>
            </a:r>
            <a:r>
              <a:rPr lang="es-MX" sz="2800" cap="none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</a:t>
            </a:r>
            <a:r>
              <a:rPr lang="es-MX" sz="28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3691466"/>
            <a:ext cx="4986038" cy="2457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34" name="Picture 10" descr="Chest - The Binding of Isaac - Guía Definitiva en Español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5" y="276247"/>
            <a:ext cx="1466850" cy="14668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2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8079-036A-F265-57CF-6FDC48B4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69"/>
            <a:ext cx="9905998" cy="5244020"/>
          </a:xfrm>
          <a:ln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Funciones Principales</a:t>
            </a: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MX" sz="2400" cap="none" dirty="0" smtClean="0">
                <a:ln w="9525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Administración de Secretos: </a:t>
            </a:r>
            <a:r>
              <a:rPr lang="es-MX" sz="24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Almacenar de forma segura y controlar el acceso a diferentes tipos de claves (contraseñas, </a:t>
            </a:r>
            <a:r>
              <a:rPr lang="es-MX" sz="2400" cap="none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tokens</a:t>
            </a:r>
            <a:r>
              <a:rPr lang="es-MX" sz="24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certificados, claves de API, </a:t>
            </a:r>
            <a:r>
              <a:rPr lang="es-MX" sz="2400" cap="none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s-MX" sz="24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MX" sz="2400" dirty="0" smtClean="0">
                <a:ln w="9525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Administración de Claves: </a:t>
            </a:r>
            <a:r>
              <a:rPr lang="es-MX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 y controlar de claves de cifrado.</a:t>
            </a: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MX" sz="2400" cap="none" dirty="0" smtClean="0">
                <a:ln w="9525"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Administración de Certificados: </a:t>
            </a:r>
            <a:r>
              <a:rPr lang="es-MX" sz="24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Aprovisionar, administrar e implementar certificados públicos/privados de seguridad de la capa de transporte y la capa de sockets seguro (TLS/SSL) para su uso con recursos de </a:t>
            </a:r>
            <a:r>
              <a:rPr lang="es-MX" sz="2400" cap="none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</a:t>
            </a:r>
            <a:r>
              <a:rPr lang="es-MX" sz="2400" cap="none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7225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8079-036A-F265-57CF-6FDC48B4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70"/>
            <a:ext cx="9905998" cy="875220"/>
          </a:xfrm>
          <a:ln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Requisitos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 txBox="1">
            <a:spLocks/>
          </p:cNvSpPr>
          <p:nvPr/>
        </p:nvSpPr>
        <p:spPr>
          <a:xfrm>
            <a:off x="6355644" y="1941689"/>
            <a:ext cx="4447823" cy="343182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Para poder implementarlo, es importante tener configurado el servicio de Microsoft Entra ID (para gestión de roles y permisos), además de aplicaciones que requieran de uso de claves para acceder a sus recursos.</a:t>
            </a:r>
            <a:endParaRPr lang="es-MX" sz="2400" dirty="0" smtClean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342767"/>
            <a:ext cx="3363387" cy="30307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2" name="Picture 4" descr="Thumbnail for version as of 09:19, 1 May 201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815" y="773544"/>
            <a:ext cx="648271" cy="6482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02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8079-036A-F265-57CF-6FDC48B4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69"/>
            <a:ext cx="9905998" cy="5244020"/>
          </a:xfrm>
          <a:ln>
            <a:noFill/>
          </a:ln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¿Porqué usarlo?</a:t>
            </a: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 </a:t>
            </a:r>
            <a:r>
              <a:rPr lang="es-ES" sz="2400" u="sng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centralizar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manera robusta los secretos utilizados en otras aplicaciones, evitando la necesidad de hacerlos parte del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código.</a:t>
            </a:r>
            <a:endParaRPr lang="es-ES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tiene un </a:t>
            </a:r>
            <a:r>
              <a:rPr lang="es-ES" sz="2400" u="sng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quienes entran y a que claves se acceden haciendo uso de roles (la autorización y autenticación se puede hacer mediante Microsoft Entra ID y RBAC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s-ES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gran medida la posibilidad de que se </a:t>
            </a:r>
            <a:r>
              <a:rPr lang="es-ES" sz="2400" u="sng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filtren por </a:t>
            </a:r>
            <a:r>
              <a:rPr lang="es-ES" sz="2400" u="sng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accidente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2400" u="sng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puede escalar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generar redundancia, automatizar e implementar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manera accesible en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aplicaciones. </a:t>
            </a:r>
            <a:endParaRPr lang="es-MX" sz="2400" cap="none" dirty="0" smtClean="0">
              <a:ln w="9525">
                <a:solidFill>
                  <a:schemeClr val="tx1">
                    <a:lumMod val="75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70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D40-DA58-A888-8788-B39CD19B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redondeado 16"/>
          <p:cNvSpPr/>
          <p:nvPr/>
        </p:nvSpPr>
        <p:spPr>
          <a:xfrm>
            <a:off x="2387600" y="2603500"/>
            <a:ext cx="7302500" cy="372279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60069"/>
            <a:ext cx="10236199" cy="1916974"/>
          </a:xfrm>
          <a:ln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Ejemplo, tienes una </a:t>
            </a:r>
            <a:r>
              <a:rPr lang="es-ES" sz="2400" u="sng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Página Web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requiere de acceder a una </a:t>
            </a:r>
            <a:r>
              <a:rPr lang="es-ES" sz="2400" u="sng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de Datos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vez de tener las credenciales en el código o en un archivo aparte, se tiene una llamada al </a:t>
            </a:r>
            <a:r>
              <a:rPr lang="es-ES" sz="2400" u="sng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s-ES" sz="2400" u="sng" dirty="0" err="1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Vault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(URI), el cual gestiona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través de </a:t>
            </a:r>
            <a:r>
              <a:rPr lang="es-ES" sz="2400" u="sng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 ID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los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accesos de manera segura a la base de datos.</a:t>
            </a:r>
            <a:endParaRPr lang="es-MX" sz="2400" cap="none" dirty="0" smtClean="0">
              <a:ln w="9525">
                <a:solidFill>
                  <a:schemeClr val="tx1">
                    <a:lumMod val="75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50" y="5018259"/>
            <a:ext cx="1390723" cy="11477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035" y="4870369"/>
            <a:ext cx="1455929" cy="1455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426" y="4736050"/>
            <a:ext cx="1265386" cy="14299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035" y="2744212"/>
            <a:ext cx="1455929" cy="12789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1" name="Conector recto de flecha 10"/>
          <p:cNvCxnSpPr/>
          <p:nvPr/>
        </p:nvCxnSpPr>
        <p:spPr>
          <a:xfrm>
            <a:off x="4178300" y="5556747"/>
            <a:ext cx="1016000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>
            <a:off x="6964737" y="5556747"/>
            <a:ext cx="1016000" cy="0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H="1" flipV="1">
            <a:off x="6095998" y="4094373"/>
            <a:ext cx="1" cy="704769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2691551" y="4685703"/>
            <a:ext cx="140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Servicio Web</a:t>
            </a: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6638164" y="2737348"/>
            <a:ext cx="10898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</a:t>
            </a:r>
          </a:p>
          <a:p>
            <a:r>
              <a:rPr lang="es-ES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 ID</a:t>
            </a:r>
            <a:endParaRPr lang="es-MX" dirty="0"/>
          </a:p>
        </p:txBody>
      </p:sp>
      <p:sp>
        <p:nvSpPr>
          <p:cNvPr id="20" name="Rectángulo 19"/>
          <p:cNvSpPr/>
          <p:nvPr/>
        </p:nvSpPr>
        <p:spPr>
          <a:xfrm>
            <a:off x="6330053" y="4648927"/>
            <a:ext cx="1052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s-ES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Vault</a:t>
            </a:r>
            <a:endParaRPr lang="es-MX" dirty="0"/>
          </a:p>
        </p:txBody>
      </p:sp>
      <p:sp>
        <p:nvSpPr>
          <p:cNvPr id="24" name="CuadroTexto 23"/>
          <p:cNvSpPr txBox="1"/>
          <p:nvPr/>
        </p:nvSpPr>
        <p:spPr>
          <a:xfrm>
            <a:off x="8002124" y="4446757"/>
            <a:ext cx="1505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de Datos</a:t>
            </a:r>
            <a:endParaRPr lang="es-MX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D40-DA58-A888-8788-B39CD19B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69"/>
            <a:ext cx="9905998" cy="5244020"/>
          </a:xfrm>
          <a:ln>
            <a:noFill/>
          </a:ln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 de Cobro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encuentra en dos niveles de servicio, que son Estándar y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Premium:</a:t>
            </a:r>
            <a:endParaRPr lang="es-ES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Nivel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Estándar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Cifra los datos mediante bibliotecas de software validadas en FIPS 140 Nivel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endParaRPr lang="es-ES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1200"/>
              </a:spcAft>
              <a:buFontTx/>
              <a:buChar char="-"/>
            </a:pP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Nivel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Premium: 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Ofrece claves protegidas por HSM (Hardware Security Module), generadas y protegidas por FIPS 140-3 nivel 3 validados HSM de Marvell </a:t>
            </a:r>
            <a:r>
              <a:rPr lang="es-ES" sz="2400" dirty="0" err="1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LiquidSecurity</a:t>
            </a: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para el mayor nivel de protección 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criptográfica.</a:t>
            </a:r>
            <a:endParaRPr lang="es-ES" sz="2400" dirty="0">
              <a:ln w="9525">
                <a:solidFill>
                  <a:schemeClr val="tx1">
                    <a:lumMod val="75000"/>
                  </a:schemeClr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Aft>
                <a:spcPts val="1200"/>
              </a:spcAft>
              <a:buNone/>
            </a:pPr>
            <a:r>
              <a:rPr lang="es-ES" sz="2400" dirty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FIPS 140: Estándares que definen requisitos de seguridad para modelos criptográficos (NIST</a:t>
            </a:r>
            <a:r>
              <a:rPr lang="es-ES" sz="24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s-MX" sz="2400" cap="none" dirty="0" smtClean="0">
              <a:ln w="9525">
                <a:solidFill>
                  <a:schemeClr val="tx1">
                    <a:lumMod val="75000"/>
                  </a:schemeClr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2157" y="660069"/>
            <a:ext cx="790685" cy="781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630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D40-DA58-A888-8788-B39CD19B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11" y="485598"/>
            <a:ext cx="5937445" cy="28926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886" y="1438098"/>
            <a:ext cx="5149136" cy="19401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10" y="3431914"/>
            <a:ext cx="9407889" cy="31595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7682" y="485598"/>
            <a:ext cx="4600743" cy="875220"/>
          </a:xfrm>
          <a:ln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Precios</a:t>
            </a:r>
            <a:endParaRPr lang="es-MX" sz="4000" dirty="0" smtClean="0">
              <a:ln w="9525">
                <a:solidFill>
                  <a:schemeClr val="tx1">
                    <a:lumMod val="75000"/>
                  </a:schemeClr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50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D40-DA58-A888-8788-B39CD19B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7E58C4A-7A39-0D62-E247-C3B5597F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70"/>
            <a:ext cx="9905998" cy="875220"/>
          </a:xfrm>
          <a:ln>
            <a:noFill/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HSM (Solo </a:t>
            </a:r>
            <a:r>
              <a:rPr lang="es-MX" sz="4000" dirty="0" err="1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</a:t>
            </a:r>
            <a:r>
              <a:rPr lang="es-MX" sz="4000" dirty="0" smtClean="0">
                <a:ln w="9525">
                  <a:solidFill>
                    <a:schemeClr val="tx1">
                      <a:lumMod val="75000"/>
                    </a:schemeClr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s-MX" sz="4000" dirty="0" smtClean="0">
              <a:ln w="9525">
                <a:solidFill>
                  <a:schemeClr val="tx1">
                    <a:lumMod val="75000"/>
                  </a:schemeClr>
                </a:solidFill>
              </a:ln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53" y="3148746"/>
            <a:ext cx="3268364" cy="2858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53" y="1704476"/>
            <a:ext cx="8454214" cy="1202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098" name="Picture 2" descr="Hardware Security Modu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711883"/>
            <a:ext cx="3592513" cy="229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54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D40-DA58-A888-8788-B39CD19B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CF5C8-88E1-7B1B-9A53-EF04FCD70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60069"/>
            <a:ext cx="9905998" cy="53963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4000" cap="none" dirty="0" smtClean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 por su atención!</a:t>
            </a:r>
          </a:p>
          <a:p>
            <a:pPr marL="0" indent="0">
              <a:buNone/>
            </a:pPr>
            <a:endParaRPr lang="es-MX" sz="3200" cap="none" dirty="0" smtClean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MX" sz="3200" cap="none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MX" sz="3200" cap="none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MX" sz="2400" cap="none" dirty="0" smtClean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Bibliografía: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MX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portal.azure.com</a:t>
            </a:r>
            <a:r>
              <a:rPr lang="es-MX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Gestor </a:t>
            </a:r>
            <a:r>
              <a:rPr lang="es-MX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</a:t>
            </a:r>
            <a:r>
              <a:rPr lang="es-MX" sz="1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</a:t>
            </a:r>
            <a:endParaRPr lang="es-MX" sz="18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s-MX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learn.microsoft.com/es-es/azure/key-vault/general/overview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s-MX" sz="1800" cap="none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Manuales de Microsoft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s-MX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azure.microsoft.com/en-us/pricing/details/key-vault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Página Oficial de </a:t>
            </a:r>
            <a:r>
              <a:rPr lang="es-MX" sz="1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</a:t>
            </a:r>
          </a:p>
        </p:txBody>
      </p:sp>
      <p:pic>
        <p:nvPicPr>
          <p:cNvPr id="2" name="mihono-borbon-uma-musum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80776" y="713360"/>
            <a:ext cx="2286000" cy="2286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3849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Damask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550</TotalTime>
  <Words>446</Words>
  <Application>Microsoft Office PowerPoint</Application>
  <PresentationFormat>Panorámica</PresentationFormat>
  <Paragraphs>37</Paragraphs>
  <Slides>10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Bahnschrift</vt:lpstr>
      <vt:lpstr>Bookman Old Style</vt:lpstr>
      <vt:lpstr>Calibri</vt:lpstr>
      <vt:lpstr>Calibri Light</vt:lpstr>
      <vt:lpstr>Rockwell</vt:lpstr>
      <vt:lpstr>Damask</vt:lpstr>
      <vt:lpstr>Celestial</vt:lpstr>
      <vt:lpstr>AZURE KEY VAULTS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Lenguajes de programación php</dc:title>
  <dc:creator>PATIÃ‘O GONZALEZ JAVIER</dc:creator>
  <cp:lastModifiedBy>USUARIO</cp:lastModifiedBy>
  <cp:revision>37</cp:revision>
  <dcterms:created xsi:type="dcterms:W3CDTF">2025-02-18T14:16:45Z</dcterms:created>
  <dcterms:modified xsi:type="dcterms:W3CDTF">2026-04-16T04:58:33Z</dcterms:modified>
</cp:coreProperties>
</file>