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1"/>
  </p:notesMasterIdLst>
  <p:handoutMasterIdLst>
    <p:handoutMasterId r:id="rId12"/>
  </p:handoutMasterIdLst>
  <p:sldIdLst>
    <p:sldId id="257" r:id="rId5"/>
    <p:sldId id="389" r:id="rId6"/>
    <p:sldId id="321" r:id="rId7"/>
    <p:sldId id="270" r:id="rId8"/>
    <p:sldId id="384" r:id="rId9"/>
    <p:sldId id="391" r:id="rId10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14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CA2E8D-45A3-4C48-9625-891692387AEA}" type="datetime1">
              <a:rPr lang="es-MX" smtClean="0"/>
              <a:t>16/04/2026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3C4DD5-6CE3-47E7-95E8-166693B65D37}" type="datetime1">
              <a:rPr lang="es-MX" smtClean="0"/>
              <a:t>16/04/2026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1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5707CC-89EA-43A2-BEC7-ACC1C58A42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72653C4-4721-4992-BEFD-5B63D45D1ED1}" type="datetime1">
              <a:rPr lang="es-MX" smtClean="0"/>
              <a:t>16/04/2026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3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536ED5-5FB8-4604-810C-4003294F53E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7D4F21E-2E00-46B6-BC42-1F3F31D89FA8}" type="datetime1">
              <a:rPr lang="es-MX" smtClean="0"/>
              <a:t>16/04/2026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0892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4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5756AF-9889-4922-83D9-FDD460AD86A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D1898D5-C4A1-4E03-8125-40FE5A414BEE}" type="datetime1">
              <a:rPr lang="es-MX" smtClean="0"/>
              <a:t>16/04/2026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304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es-MX" smtClean="0"/>
              <a:t>5</a:t>
            </a:fld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6832E2-5B1D-4962-A274-3310C4DDF33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8564FDC4-CA6D-4AC4-B464-B971E2D4C2AE}" type="datetime1">
              <a:rPr lang="es-MX" smtClean="0"/>
              <a:t>16/04/2026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es-MX" sz="4800"/>
              <a:t>Flotante en 3D</a:t>
            </a:r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es-MX"/>
              <a:t>Haz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es-MX" sz="1600"/>
              <a:t>Haz clic para agregar texto</a:t>
            </a:r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18" name="Marcador de posición de imagen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19" name="Marcador de posición de imagen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0" name="Marcador de posición de imagen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lt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s-ES">
                <a:solidFill>
                  <a:schemeClr val="tx1">
                    <a:alpha val="60000"/>
                  </a:schemeClr>
                </a:solidFill>
              </a:rPr>
              <a:t>Haga clic para modificar el estilo de subtítulo del patrón</a:t>
            </a:r>
            <a:endParaRPr lang="es-MX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alt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es-ES">
                <a:solidFill>
                  <a:schemeClr val="tx1">
                    <a:alpha val="60000"/>
                  </a:schemeClr>
                </a:solidFill>
              </a:rPr>
              <a:t>Haga clic para modificar el estilo de subtítulo del patrón</a:t>
            </a:r>
            <a:endParaRPr lang="es-MX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ínea del tiempo de la tabla y el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s-MX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b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0" name="Forma lib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1" name="Forma lib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12" name="Elipse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s-MX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es-MX"/>
              <a:t>Equipo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b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56" name="Marcador de posición de imagen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57" name="Marcador de posición de imagen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58" name="Marcador de posición de imagen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 dirty="0"/>
          </a:p>
        </p:txBody>
      </p:sp>
      <p:sp>
        <p:nvSpPr>
          <p:cNvPr id="59" name="Marcador de posición de imagen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1" name="Marcador de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65" name="Marcador de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4" name="Marcador de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67" name="Marcador de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6" name="Marcador de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69" name="Marcador de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es-MX"/>
              <a:t>Nombre</a:t>
            </a:r>
          </a:p>
        </p:txBody>
      </p:sp>
      <p:sp>
        <p:nvSpPr>
          <p:cNvPr id="68" name="Marcador de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lumna de contenido 2 (diapositiva de comparació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s-MX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s-MX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Muestra de texto de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s-MX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s-MX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conteni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s-MX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es-MX"/>
              <a:t>Haz clic para EDITAR</a:t>
            </a:r>
          </a:p>
        </p:txBody>
      </p:sp>
      <p:sp>
        <p:nvSpPr>
          <p:cNvPr id="21" name="Marcador de conteni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es-ES">
                <a:solidFill>
                  <a:schemeClr val="tx1">
                    <a:alpha val="60000"/>
                  </a:schemeClr>
                </a:solidFill>
              </a:rPr>
              <a:t>Haga clic para modificar el estilo de subtítulo del patrón</a:t>
            </a:r>
            <a:endParaRPr lang="es-MX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 dirty="0"/>
          </a:p>
        </p:txBody>
      </p:sp>
      <p:sp>
        <p:nvSpPr>
          <p:cNvPr id="42" name="Marcador de posición de imagen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es-ES"/>
              <a:t>Haga clic en el icono para agregar una imagen</a:t>
            </a:r>
            <a:endParaRPr lang="es-MX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s-MX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es-MX" dirty="0">
                <a:solidFill>
                  <a:schemeClr val="tx1"/>
                </a:solidFill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lipse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es-MX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es-MX"/>
              <a:t>Ejemplo de Texto al pie de página</a:t>
            </a:r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es-MX" smtClean="0"/>
              <a:pPr rtl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MX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es-MX" sz="1800" dirty="0"/>
              <a:t>Azure</a:t>
            </a:r>
            <a:br>
              <a:rPr lang="es-MX" dirty="0"/>
            </a:br>
            <a:r>
              <a:rPr lang="es-MX" dirty="0"/>
              <a:t>DevOps</a:t>
            </a:r>
          </a:p>
        </p:txBody>
      </p:sp>
      <p:pic>
        <p:nvPicPr>
          <p:cNvPr id="14" name="Marcador de posición de imagen 13" descr="Fondo digital de puntos de dat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Luis Daniel Cortes </a:t>
            </a:r>
            <a:r>
              <a:rPr lang="es-MX" dirty="0" err="1"/>
              <a:t>Hernandez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rtlCol="0"/>
          <a:lstStyle/>
          <a:p>
            <a:r>
              <a:rPr lang="es-MX" dirty="0"/>
              <a:t>¿Qué es o para que sirve?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B60D6F-4D0F-4D33-B2A7-159C8583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7"/>
            <a:ext cx="4090711" cy="3296110"/>
          </a:xfrm>
        </p:spPr>
        <p:txBody>
          <a:bodyPr rtlCol="0"/>
          <a:lstStyle/>
          <a:p>
            <a:r>
              <a:rPr lang="es-MX" dirty="0"/>
              <a:t>Es un conjunto de herramientas basadas en nube, útiles para los equipos de desarrollo de software.</a:t>
            </a:r>
          </a:p>
          <a:p>
            <a:r>
              <a:rPr lang="es-MX" dirty="0"/>
              <a:t>Este conjunto de herramientas permite que los equipos de trabajo planear, colaborar, compilar aplicaciones, probar funcionalidad y la implementación en producción.</a:t>
            </a:r>
          </a:p>
          <a:p>
            <a:pPr rtl="0"/>
            <a:endParaRPr lang="es-MX" dirty="0"/>
          </a:p>
        </p:txBody>
      </p:sp>
      <p:pic>
        <p:nvPicPr>
          <p:cNvPr id="8" name="Marcador de posición de imagen 7" descr="Datos digitales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8928" y="1596771"/>
            <a:ext cx="3448558" cy="3448558"/>
          </a:xfrm>
        </p:spPr>
      </p:pic>
      <p:pic>
        <p:nvPicPr>
          <p:cNvPr id="10" name="Marcador de posición de imagen 9" descr="Puntos de datos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8575" y="596392"/>
            <a:ext cx="2263776" cy="2263776"/>
          </a:xfrm>
        </p:spPr>
      </p:pic>
      <p:pic>
        <p:nvPicPr>
          <p:cNvPr id="12" name="Marcador de posición de imagen 11" descr="Fondo de datos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1612" y="3324733"/>
            <a:ext cx="2936876" cy="2936876"/>
          </a:xfrm>
        </p:spPr>
      </p:pic>
      <p:sp>
        <p:nvSpPr>
          <p:cNvPr id="13" name="Marcador de posición de fecha 12">
            <a:extLst>
              <a:ext uri="{FF2B5EF4-FFF2-40B4-BE49-F238E27FC236}">
                <a16:creationId xmlns:a16="http://schemas.microsoft.com/office/drawing/2014/main" id="{915FE2C5-E66A-4405-B19E-2C5C546C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14" name="Marcador de posición de pie de página 13">
            <a:extLst>
              <a:ext uri="{FF2B5EF4-FFF2-40B4-BE49-F238E27FC236}">
                <a16:creationId xmlns:a16="http://schemas.microsoft.com/office/drawing/2014/main" id="{B01DF4D0-78BC-4C8C-9570-26F0B225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s-MX"/>
              <a:t>Muestra de texto de pie de página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80" y="3042367"/>
            <a:ext cx="4500562" cy="1562959"/>
          </a:xfrm>
        </p:spPr>
        <p:txBody>
          <a:bodyPr rtlCol="0"/>
          <a:lstStyle/>
          <a:p>
            <a:pPr rtl="0"/>
            <a:r>
              <a:rPr lang="es-MX" dirty="0"/>
              <a:t>Requisitos de instalación</a:t>
            </a:r>
          </a:p>
        </p:txBody>
      </p:sp>
      <p:pic>
        <p:nvPicPr>
          <p:cNvPr id="16" name="Marcador de posición de imagen 15" descr="Fondo digital de puntos de datos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2000" cy="2703443"/>
          </a:xfrm>
        </p:spPr>
      </p:pic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52472" y="3733248"/>
            <a:ext cx="6221412" cy="1563688"/>
          </a:xfrm>
        </p:spPr>
        <p:txBody>
          <a:bodyPr rtlCol="0">
            <a:normAutofit/>
          </a:bodyPr>
          <a:lstStyle/>
          <a:p>
            <a:r>
              <a:rPr lang="es-MX" dirty="0"/>
              <a:t>Debido a que es una plataforma en la nube, no requiere ningún tipo de instalación de servicios.</a:t>
            </a:r>
          </a:p>
          <a:p>
            <a:r>
              <a:rPr lang="es-MX" dirty="0"/>
              <a:t>Es una plataforma SaaS (Software as a </a:t>
            </a:r>
            <a:r>
              <a:rPr lang="es-MX" dirty="0" err="1"/>
              <a:t>Service</a:t>
            </a:r>
            <a:r>
              <a:rPr lang="es-MX" dirty="0"/>
              <a:t>)</a:t>
            </a:r>
          </a:p>
          <a:p>
            <a:endParaRPr lang="es-MX" dirty="0"/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156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MX"/>
            </a:p>
          </p:txBody>
        </p:sp>
      </p:grpSp>
      <p:sp>
        <p:nvSpPr>
          <p:cNvPr id="7" name="Título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¿Cuál es el modelo de cobro? 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D098C43-2F2A-4100-89BC-59310392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/>
          <a:lstStyle/>
          <a:p>
            <a:pPr rtl="0"/>
            <a:r>
              <a:rPr lang="es-MX" dirty="0"/>
              <a:t>Se ofrecen 3 modelos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11097550" cy="3515555"/>
          </a:xfrm>
        </p:spPr>
        <p:txBody>
          <a:bodyPr rtlCol="0"/>
          <a:lstStyle/>
          <a:p>
            <a:r>
              <a:rPr lang="es-MX" dirty="0"/>
              <a:t>-</a:t>
            </a:r>
            <a:r>
              <a:rPr lang="es-MX" dirty="0" err="1"/>
              <a:t>Stakeholder</a:t>
            </a:r>
            <a:r>
              <a:rPr lang="es-MX" dirty="0"/>
              <a:t>, la cual es gratis y permita la visualización con participación limitada.</a:t>
            </a:r>
          </a:p>
          <a:p>
            <a:r>
              <a:rPr lang="es-MX" dirty="0"/>
              <a:t>-Basic, que es gratis para 5 usuarios, después cobra $6 por usuario al mes. Permite acceso a </a:t>
            </a:r>
            <a:r>
              <a:rPr lang="es-MX" dirty="0" err="1"/>
              <a:t>Boards</a:t>
            </a:r>
            <a:r>
              <a:rPr lang="es-MX" dirty="0"/>
              <a:t>, Repos, Pipelines y </a:t>
            </a:r>
            <a:r>
              <a:rPr lang="es-MX" dirty="0" err="1"/>
              <a:t>Artifacts</a:t>
            </a:r>
            <a:r>
              <a:rPr lang="es-MX" dirty="0"/>
              <a:t> básicos.</a:t>
            </a:r>
          </a:p>
          <a:p>
            <a:r>
              <a:rPr lang="es-MX" dirty="0"/>
              <a:t>-Basic + Test </a:t>
            </a:r>
            <a:r>
              <a:rPr lang="es-MX" dirty="0" err="1"/>
              <a:t>plans</a:t>
            </a:r>
            <a:r>
              <a:rPr lang="es-MX" dirty="0"/>
              <a:t>, cuesta $52 por usuario al mes, y te da acceso a los mismos recursos que el nivel </a:t>
            </a:r>
            <a:r>
              <a:rPr lang="es-MX" dirty="0" err="1"/>
              <a:t>basic</a:t>
            </a:r>
            <a:r>
              <a:rPr lang="es-MX" dirty="0"/>
              <a:t>, más capacidades completas de las pruebas manuales y exploratorias.</a:t>
            </a: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4</a:t>
            </a:fld>
            <a:endParaRPr lang="es-MX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34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50" y="3247798"/>
            <a:ext cx="5612458" cy="1003852"/>
          </a:xfrm>
        </p:spPr>
        <p:txBody>
          <a:bodyPr rtlCol="0"/>
          <a:lstStyle/>
          <a:p>
            <a:r>
              <a:rPr lang="es-MX" sz="3200" dirty="0"/>
              <a:t>¿Cuáles son los beneficios que otorga o casos de uso?</a:t>
            </a:r>
            <a:br>
              <a:rPr lang="es-MX" sz="3200" dirty="0"/>
            </a:br>
            <a:endParaRPr lang="es-MX" sz="3200" dirty="0"/>
          </a:p>
        </p:txBody>
      </p:sp>
      <p:pic>
        <p:nvPicPr>
          <p:cNvPr id="18" name="Marcador de posición de imagen 17" descr="Un grupo de personas sentadas en un escritorio">
            <a:extLst>
              <a:ext uri="{FF2B5EF4-FFF2-40B4-BE49-F238E27FC236}">
                <a16:creationId xmlns:a16="http://schemas.microsoft.com/office/drawing/2014/main" id="{E2536017-F539-430C-A901-70AB81CA61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0"/>
            <a:ext cx="3054096" cy="2753139"/>
          </a:xfrm>
        </p:spPr>
      </p:pic>
      <p:pic>
        <p:nvPicPr>
          <p:cNvPr id="20" name="Marcador de posición de imagen 19" descr="Fondo digital de puntos de datos">
            <a:extLst>
              <a:ext uri="{FF2B5EF4-FFF2-40B4-BE49-F238E27FC236}">
                <a16:creationId xmlns:a16="http://schemas.microsoft.com/office/drawing/2014/main" id="{528A7D8D-1AB5-46C4-93FA-D92C2FD516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3054096" y="0"/>
            <a:ext cx="3054096" cy="2753139"/>
          </a:xfrm>
        </p:spPr>
      </p:pic>
      <p:pic>
        <p:nvPicPr>
          <p:cNvPr id="25" name="Marcador de posición de imagen 24" descr="Pantalla de gráfico digital">
            <a:extLst>
              <a:ext uri="{FF2B5EF4-FFF2-40B4-BE49-F238E27FC236}">
                <a16:creationId xmlns:a16="http://schemas.microsoft.com/office/drawing/2014/main" id="{B7353C46-ACC1-4078-85C2-26B57B0E58B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9137904" y="0"/>
            <a:ext cx="3054096" cy="2753139"/>
          </a:xfrm>
        </p:spPr>
      </p:pic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0C329F70-04F7-4C70-BCF8-D4371F54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3302E-502D-4151-81C9-5FD6AF9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5</a:t>
            </a:fld>
            <a:endParaRPr lang="es-MX"/>
          </a:p>
        </p:txBody>
      </p:sp>
      <p:pic>
        <p:nvPicPr>
          <p:cNvPr id="23" name="Marcador de posición de imagen 22" descr="Una persona dibujando sobre una pizarra">
            <a:extLst>
              <a:ext uri="{FF2B5EF4-FFF2-40B4-BE49-F238E27FC236}">
                <a16:creationId xmlns:a16="http://schemas.microsoft.com/office/drawing/2014/main" id="{2B3C4F95-A0FA-45D9-BF43-1C398F65B89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6083808" y="0"/>
            <a:ext cx="3054096" cy="2753139"/>
          </a:xfrm>
        </p:spPr>
      </p:pic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93096" y="4508500"/>
            <a:ext cx="7090879" cy="1563688"/>
          </a:xfrm>
          <a:noFill/>
        </p:spPr>
        <p:txBody>
          <a:bodyPr rtlCol="0">
            <a:normAutofit fontScale="92500" lnSpcReduction="20000"/>
          </a:bodyPr>
          <a:lstStyle/>
          <a:p>
            <a:r>
              <a:rPr lang="es-MX" sz="1600" dirty="0"/>
              <a:t>-Gestión del desarrollo, se centraliza la planeación, el código, pruebas y despliegue en una sola plataforma.</a:t>
            </a:r>
          </a:p>
          <a:p>
            <a:r>
              <a:rPr lang="es-MX" sz="1600" dirty="0"/>
              <a:t>-Mejor colaboración pues facilita el trabajo en equipo coordinado entre desarrolladores, testes y operaciones.</a:t>
            </a:r>
          </a:p>
          <a:p>
            <a:r>
              <a:rPr lang="es-MX" sz="1600" dirty="0"/>
              <a:t>-Integración con otras herramientas: Funciona con Git, </a:t>
            </a:r>
            <a:r>
              <a:rPr lang="es-MX" sz="1600" dirty="0" err="1"/>
              <a:t>IDEs</a:t>
            </a:r>
            <a:r>
              <a:rPr lang="es-MX" sz="1600" dirty="0"/>
              <a:t> y otros servicios en la nube</a:t>
            </a:r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/>
          <a:lstStyle/>
          <a:p>
            <a:pPr rtl="0"/>
            <a:r>
              <a:rPr lang="es-MX"/>
              <a:t>Gracias</a:t>
            </a:r>
          </a:p>
        </p:txBody>
      </p:sp>
      <p:sp>
        <p:nvSpPr>
          <p:cNvPr id="23" name="Subtítulo 22">
            <a:extLst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/>
          <a:lstStyle/>
          <a:p>
            <a:pPr rtl="0"/>
            <a:endParaRPr lang="es-MX" dirty="0"/>
          </a:p>
        </p:txBody>
      </p:sp>
      <p:pic>
        <p:nvPicPr>
          <p:cNvPr id="27" name="Marcador de posición de imagen 26" descr="Fondo digital de puntos de datos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Marcador de posición de imagen 32" descr="Fondo digital de puntos de datos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7823E305-6365-4345-8BD1-4A31C61D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507212"/>
            <a:ext cx="2628900" cy="153888"/>
          </a:xfrm>
        </p:spPr>
        <p:txBody>
          <a:bodyPr rtlCol="0"/>
          <a:lstStyle/>
          <a:p>
            <a:pPr rtl="0"/>
            <a:r>
              <a:rPr lang="es-MX"/>
              <a:t>Martes, 2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37A3FF-ED32-4C4A-A21F-848A3BF6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9150" y="6507212"/>
            <a:ext cx="6379210" cy="153888"/>
          </a:xfrm>
        </p:spPr>
        <p:txBody>
          <a:bodyPr rtlCol="0"/>
          <a:lstStyle/>
          <a:p>
            <a:pPr rtl="0"/>
            <a:r>
              <a:rPr lang="es-MX"/>
              <a:t>Ejemplo de Texto al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es-MX" smtClean="0"/>
              <a:pPr rtl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6012.tgt.Office_50301380_TF33713516_Win32_OJ112196127" id="{BE9D9199-ABB8-4370-9D20-B54D4B2FD6B3}" vid="{E9DD8443-CC0D-4962-ABD4-763920AE0A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{97B01DE1-EE25-43FF-812B-3BEDB14CA7CA}tf33713516_win32</Template>
  <TotalTime>33</TotalTime>
  <Words>337</Words>
  <Application>Microsoft Office PowerPoint</Application>
  <PresentationFormat>Panorámica</PresentationFormat>
  <Paragraphs>41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Walbaum Display</vt:lpstr>
      <vt:lpstr>3DFloatVTI</vt:lpstr>
      <vt:lpstr>Azure DevOps</vt:lpstr>
      <vt:lpstr>¿Qué es o para que sirve?</vt:lpstr>
      <vt:lpstr>Requisitos de instalación</vt:lpstr>
      <vt:lpstr>¿Cuál es el modelo de cobro? </vt:lpstr>
      <vt:lpstr>¿Cuáles son los beneficios que otorga o casos de uso?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CORTES HERNANDEZ LUIS DANIEL</dc:creator>
  <cp:lastModifiedBy>CORTES HERNANDEZ LUIS DANIEL</cp:lastModifiedBy>
  <cp:revision>1</cp:revision>
  <dcterms:created xsi:type="dcterms:W3CDTF">2026-04-17T04:23:46Z</dcterms:created>
  <dcterms:modified xsi:type="dcterms:W3CDTF">2026-04-17T04:57:26Z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