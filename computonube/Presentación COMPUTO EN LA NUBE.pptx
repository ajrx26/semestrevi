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ola Virues Hector" userId="6b1c84c4-e4f8-42d7-8d85-645df8b21457" providerId="ADAL" clId="{D63D1B71-6852-45FF-AC8D-51BE70EC0FF6}"/>
    <pc:docChg chg="custSel modSld">
      <pc:chgData name="Bonola Virues Hector" userId="6b1c84c4-e4f8-42d7-8d85-645df8b21457" providerId="ADAL" clId="{D63D1B71-6852-45FF-AC8D-51BE70EC0FF6}" dt="2026-04-13T18:23:17.885" v="28" actId="5793"/>
      <pc:docMkLst>
        <pc:docMk/>
      </pc:docMkLst>
      <pc:sldChg chg="modSp mod">
        <pc:chgData name="Bonola Virues Hector" userId="6b1c84c4-e4f8-42d7-8d85-645df8b21457" providerId="ADAL" clId="{D63D1B71-6852-45FF-AC8D-51BE70EC0FF6}" dt="2026-04-13T18:23:17.885" v="28" actId="5793"/>
        <pc:sldMkLst>
          <pc:docMk/>
          <pc:sldMk cId="1908090273" sldId="257"/>
        </pc:sldMkLst>
        <pc:spChg chg="mod">
          <ac:chgData name="Bonola Virues Hector" userId="6b1c84c4-e4f8-42d7-8d85-645df8b21457" providerId="ADAL" clId="{D63D1B71-6852-45FF-AC8D-51BE70EC0FF6}" dt="2026-04-13T18:23:17.885" v="28" actId="5793"/>
          <ac:spMkLst>
            <pc:docMk/>
            <pc:sldMk cId="1908090273" sldId="257"/>
            <ac:spMk id="3" creationId="{4B7D6254-8493-241B-2269-3CF6386062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41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3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41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59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02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9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17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19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05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70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B507B-8437-A7D9-87D1-EF33E298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EFC1EB0-DB92-4E98-B3A9-0CD6FA5A8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8326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E6DA5A-F94F-67BA-8A5D-102D7028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s-419" sz="4400">
                <a:solidFill>
                  <a:schemeClr val="bg1"/>
                </a:solidFill>
              </a:rPr>
              <a:t>COMPUTO EN LA NUBE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FB2F6E-3F45-8858-4F77-833DFC66D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61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s-419" sz="1100">
                <a:solidFill>
                  <a:schemeClr val="bg1"/>
                </a:solidFill>
              </a:rPr>
              <a:t>INGENIERIA DE CIBERSEGURIDAD E INFRAESTRUCTURA DE COMPUTO</a:t>
            </a:r>
          </a:p>
        </p:txBody>
      </p:sp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74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4FC1F2-3F96-C878-53C0-9F4A6A83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s-MX" dirty="0"/>
              <a:t>La experiencia educativa</a:t>
            </a:r>
            <a:endParaRPr lang="es-419" dirty="0"/>
          </a:p>
        </p:txBody>
      </p:sp>
      <p:pic>
        <p:nvPicPr>
          <p:cNvPr id="5" name="Picture 4" descr="Mano con lápiz sombreando círculos en una hoja">
            <a:extLst>
              <a:ext uri="{FF2B5EF4-FFF2-40B4-BE49-F238E27FC236}">
                <a16:creationId xmlns:a16="http://schemas.microsoft.com/office/drawing/2014/main" id="{2ACBDE21-49D5-6232-C0DD-C4EC7DA498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95" r="16924" b="-1"/>
          <a:stretch>
            <a:fillRect/>
          </a:stretch>
        </p:blipFill>
        <p:spPr>
          <a:xfrm>
            <a:off x="20" y="10"/>
            <a:ext cx="4580077" cy="6400784"/>
          </a:xfrm>
          <a:prstGeom prst="rect">
            <a:avLst/>
          </a:prstGeom>
        </p:spPr>
      </p:pic>
      <p:cxnSp>
        <p:nvCxnSpPr>
          <p:cNvPr id="11" name="!!Straight Connector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7D6254-8493-241B-2269-3CF638606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Lunes y martes de 7-9 am; Viernes de 1-8 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Evaluación: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Tareas de investigación - 10%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Practicas – 10%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Proyecto – 50%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Exámenes – 30%</a:t>
            </a:r>
            <a:endParaRPr lang="es-419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B60310-C5C3-46A0-A452-2A0B00843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8090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FE1B2C-7BC1-4AE2-9A50-2A4A70A9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E8244A-2C81-4C0E-A929-3EC8EFF35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58724" y="457200"/>
            <a:ext cx="11274552" cy="59436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81BE53-6DD5-431D-7BB5-A4E90F93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749" y="963997"/>
            <a:ext cx="3787457" cy="4938361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Acuerdos</a:t>
            </a:r>
            <a:endParaRPr lang="es-419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1974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F39986-6EC0-BBE9-043B-1F2D39847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798" y="963507"/>
            <a:ext cx="5968181" cy="493885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Respeto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Puntualidad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Restricción de uso celular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Horario de atención a dudas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Uso de IA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14455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3D395-BF1F-E6FC-C4F6-4E26B086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Saberes teóricos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06B76F-AA74-4884-4ADC-9F233461E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035175"/>
            <a:ext cx="4639736" cy="3748193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419" sz="1100" b="1" dirty="0"/>
              <a:t>Introducción a cómputo en la nube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419" sz="1100" dirty="0"/>
              <a:t>Orígenes e influencia / Conceptos básicos y terminología / Metas y beneficios / Riesgos, retos y amenazas / Tipos / Modelos de nube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1100" b="1" dirty="0"/>
              <a:t>Tecnologías base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419" sz="1100" dirty="0"/>
              <a:t>Redes de banda ancha e Internet / Tecnologías de centros de datos /  Tecnologías de virtualización / Tecnologías de contenedores / Tecnologías web / Tecnologías de </a:t>
            </a:r>
            <a:r>
              <a:rPr lang="es-419" sz="1100" dirty="0" err="1"/>
              <a:t>multitenencia</a:t>
            </a:r>
            <a:endParaRPr lang="es-419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s-419" sz="1100" b="1" dirty="0"/>
              <a:t>Virtualización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419" sz="1100" dirty="0" err="1"/>
              <a:t>Hypervisores</a:t>
            </a:r>
            <a:r>
              <a:rPr lang="es-419" sz="1100" dirty="0"/>
              <a:t> / Máquinas virtuales / Virtualización de dispositivos / Administración de servicios virtualizados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1100" b="1" dirty="0"/>
              <a:t>Contenedores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419" sz="1100" dirty="0"/>
              <a:t>Comparación con máquinas virtuales /  Conceptos básicos / Despliegue de contenedores / Gestión de contenedores / Administración de registros de imágenes / Creación de imágenes / Manejo de permisos / Orquestación local de contenedores / </a:t>
            </a:r>
            <a:r>
              <a:rPr lang="es-419" sz="1100" dirty="0" err="1"/>
              <a:t>Calendarizadores</a:t>
            </a:r>
            <a:r>
              <a:rPr lang="es-419" sz="1100" dirty="0"/>
              <a:t> de contenedores</a:t>
            </a:r>
          </a:p>
          <a:p>
            <a:pPr>
              <a:buFont typeface="Arial" panose="020B0604020202020204" pitchFamily="34" charset="0"/>
              <a:buChar char="•"/>
            </a:pPr>
            <a:endParaRPr lang="es-419" sz="11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42E622-9846-D329-3F4D-3440436B8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944" y="2035175"/>
            <a:ext cx="4639736" cy="374819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419" sz="1100" b="1" dirty="0"/>
              <a:t>Mecanismos de manejo de nube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419" sz="1100" dirty="0"/>
              <a:t>Sistemas remotos de administración / Sistemas de manejo de recursos / Sistemas de manejo SLA / Sistemas de manejo de pagos / Despliegue de servicios / Orquestación de contenedores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1100" b="1" dirty="0"/>
              <a:t>Mecanismos de protección de nube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419" sz="1100" dirty="0"/>
              <a:t>Firmas digitales / Infraestructura de llave pública / Comprobación de identidad y manejo de acceso / Single </a:t>
            </a:r>
            <a:r>
              <a:rPr lang="es-419" sz="1100" dirty="0" err="1"/>
              <a:t>Sign-On</a:t>
            </a:r>
            <a:r>
              <a:rPr lang="es-419" sz="1100" dirty="0"/>
              <a:t> / Grupos de seguridad / Imágenes virtuales de servidores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1100" b="1" dirty="0"/>
              <a:t>Arquitecturas de nube fundamentales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419" sz="1100" dirty="0"/>
              <a:t>Arquitectura de distribución de carga / Arquitectura de asignación de servicios / Arquitectura de escalabilidad dinámica / Arquitectura de capacidad elástica de recursos / Arquitectura de balance de servicio / Arquitectura </a:t>
            </a:r>
            <a:r>
              <a:rPr lang="es-419" sz="1100" dirty="0" err="1"/>
              <a:t>bursting</a:t>
            </a:r>
            <a:r>
              <a:rPr lang="es-419" sz="1100" dirty="0"/>
              <a:t> de nube / Arquitectura elástica de aprovisionamiento de disco / Arquitectura de redundancia de almacenamiento</a:t>
            </a:r>
          </a:p>
        </p:txBody>
      </p:sp>
    </p:spTree>
    <p:extLst>
      <p:ext uri="{BB962C8B-B14F-4D97-AF65-F5344CB8AC3E}">
        <p14:creationId xmlns:p14="http://schemas.microsoft.com/office/powerpoint/2010/main" val="257691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AAF59E-1B01-69CD-17D9-0735888F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Contacto</a:t>
            </a:r>
            <a:endParaRPr lang="es-419" sz="400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5DCDA35-8FE9-EBB5-0971-07617A630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Héctor Bonola Virués</a:t>
            </a:r>
          </a:p>
          <a:p>
            <a:r>
              <a:rPr lang="pt-BR">
                <a:solidFill>
                  <a:srgbClr val="FFFFFF"/>
                </a:solidFill>
              </a:rPr>
              <a:t>hbonola@uv.mx</a:t>
            </a:r>
          </a:p>
          <a:p>
            <a:r>
              <a:rPr lang="pt-BR">
                <a:solidFill>
                  <a:srgbClr val="FFFFFF"/>
                </a:solidFill>
              </a:rPr>
              <a:t>@hbonola</a:t>
            </a:r>
          </a:p>
          <a:p>
            <a:r>
              <a:rPr lang="es-419">
                <a:solidFill>
                  <a:srgbClr val="FFFFFF"/>
                </a:solidFill>
              </a:rPr>
              <a:t>Edificio E, primer piso, Rectoría UV</a:t>
            </a:r>
          </a:p>
        </p:txBody>
      </p:sp>
      <p:pic>
        <p:nvPicPr>
          <p:cNvPr id="8" name="Picture 7" descr="Bloques de apartamentos coloridos y de gran altura en la ciudad">
            <a:extLst>
              <a:ext uri="{FF2B5EF4-FFF2-40B4-BE49-F238E27FC236}">
                <a16:creationId xmlns:a16="http://schemas.microsoft.com/office/drawing/2014/main" id="{6A9B37FB-6DB7-7EB3-60E7-788B3293C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66" r="10267" b="-1"/>
          <a:stretch>
            <a:fillRect/>
          </a:stretch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9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311</Words>
  <Application>Microsoft Office PowerPoint</Application>
  <PresentationFormat>Panorámica</PresentationFormat>
  <Paragraphs>35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Univers</vt:lpstr>
      <vt:lpstr>Univers Condensed</vt:lpstr>
      <vt:lpstr>RetrospectVTI</vt:lpstr>
      <vt:lpstr>COMPUTO EN LA NUBE</vt:lpstr>
      <vt:lpstr>La experiencia educativa</vt:lpstr>
      <vt:lpstr>Acuerdos</vt:lpstr>
      <vt:lpstr>Saberes teóricos</vt:lpstr>
      <vt:lpstr>Contacto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Bonola Virues Hector</dc:creator>
  <cp:lastModifiedBy>Bonola Virues Hector</cp:lastModifiedBy>
  <cp:revision>1</cp:revision>
  <dcterms:created xsi:type="dcterms:W3CDTF">2026-02-10T00:20:06Z</dcterms:created>
  <dcterms:modified xsi:type="dcterms:W3CDTF">2026-04-13T18:23:19Z</dcterms:modified>
</cp:coreProperties>
</file>